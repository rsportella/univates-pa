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Terceira aula da disciplina, foco totalmente prático: cada bloco parte de um exemplo curto no slide e o código completo e funcional fica nos arquivos .java da pasta aula3, disponibilizados à parte.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em 8 blocos. Os slides mostram trechos curtos de código; os arquivos .java completos e prontos para rodar estão na pasta aula3, entregue junto com esta apresentação.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bloco 1 — o coração teórico da aula: como o JDBC conecta Java a um banco de dados (arquitetura, tipos de driver, formato da URL de conexão) antes de partirmos para a prática com a classe Entrada.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JDBC é uma API, não um banco: define uma interface padrão (Connection, Statement, ResultSet) que qualquer driver implementa. O programa fala com a API; o driver traduz para o protocolo do banco específico.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Maven organiza o projeto (pom.xml + estrutura de pastas) e resolve dependências sozinho — é por isso que basta declarar org.postgresql:postgresql no pom.xml para o driver aparecer disponível no código. Mesma estrutura usada nas aulas 1 e 2, agora com uma dependência externa (o driver JDBC).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Existem 4 tipos de driver JDBC; hoje só o Tipo 4 (Pure Java / thin driver) é usado na prática — é rápido, não depende de bibliotecas nativas, e é o que baixamos como dependência Maven no pom.xml (org.postgresql:postgresql).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 URL JDBC segue o mesmo esqueleto: jdbc:&lt;subprotocolo&gt;://&lt;host&gt;:&lt;porta&gt;/&lt;banco&gt;. Comparar rapidamente com MySQL/SQL Server/Oracle para mostrar que só a sintaxe muda; a lógica é sempre a mesma. Depois quebrar a nossa URL parte por parte.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é o padrão de conexão que se repete em todos os arquivos .java da pasta aula3: DriverManager.getConnection(url, usuario, senha) dentro de um try-with-resources, capturando SQLException. Vale destacar que url/usuario/senha normalmente viriam de configuração externa, não hardcoded — mas aqui simplificamos para focar no JDBC.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a classe Entrada (pacote br.univates): alternativa ao Scanner, usando caixas de diálogo (JOptionPane). Tabela de referência rápida dos métodos usados hoje.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Interação para fixar por que a Entrada existe: um programa de verdade precisa reagir a dados que só existem em tempo de execução.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bloco 2. Primeira operação prática completa: pedir os dados de um produto ao usuário com Entrada e gravá-los com PreparedStatement.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Fluxo de 3 passos (pedir, preparar, gravar) + trecho curto do CadastrarProduto.java. O arquivo completo, e a variação com loop (CadastrarVarios.java), estão na pasta aula3.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Exercício prático usando o arquivo já pronto, para focar na leitura e no comportamento do programa em vez de digitar tudo do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bloco 3. Além de gravar dados, o Java também precisa lê-los de volta — inclusive filtrando pelo que o usuário digitar.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trechos lado a lado: listar tudo (recap rápido) e buscar filtrando pelo que o usuário digita. Arquivos completos: ListarProdutos.java e BuscarProduto.java.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Exercício de leitura e pequena modificação de um arquivo já pronto, para consolidar o padrão de busca filtrada.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bloco 4. Agora vamos alterar um produto já existente, pedindo ao usuário qual ID e qual o novo valor.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Primeiro UPDATE da aula, com dois valores capturados via Entrada. Reforçar a correspondência entre a ordem dos ? e a ordem dos set — erro comum retomado no bloco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Exercício que reforça a checagem do retorno do executeUpdate, testando os dois caminhos possíveis.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bloco 5. Remover dados é uma ação destrutiva — vamos usar leiaBoolean para sempre confirmar com o usuário antes de agir.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Padrão de remoção segura: ID via leiaInt, confirmação via leiaBoolean, e só então o DELETE. Arquivo completo: RemoverProduto.java.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Exercício que reforça testar os dois caminhos (confirmar/cancelar), não só o "caminho feliz".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bloco 6. Hora de juntar cadastrar, listar, atualizar e remover num único programa, com um menu que se repete até o usuário escolher sair.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menu inteiro é um do-while com switch, chamando 4 métodos já praticados nos blocos anteriores. Nada de novo — só organização. Arquivo completo: MenuProdutos.java.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Exercício de integração: usar o programa completo, ligando cada opção do menu ao bloco da aula onde ela foi ensinada.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bloco 7. Antes do projeto final, uma parada rápida e prática sobre os erros mais comuns de quem está começando com JDBC + Entrada.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Try/catch em volta do menu evita que um erro derrube o programa inteiro. Os 4 erros comuns retomam pontos já vistos: ordem dos parâmetros (bloco 4), fechamento de conexão (bloco 1), retorno do executeUpdate (blocos 4 e 5) e validação de entrada (relevante para o desafio da semana).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Interação de fechamento do bloco, conectando validação de dados com o que já foi construído hoje — ponte para o desafio da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bloco final. Hora de ver o programa completo funcionando e partir para o desafio da semana, que pede a mesma estrutura aplicada a um novo 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Panorama final do sistema de produtos, mostrando que ele é a soma exata do que foi praticado hoje. Essa visão de conjunto prepara a turma para o desafio da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Desafio elaborado — menu completo com 6 opções sobre uma tabela real (cliente, já existente desde a aula 2) — mas construído a partir de padrões já praticados e disponíveis nos arquivos .java da aula. Novidade: validação simples de campos com Apache Commons Validator, antes de gravar no banco.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Critérios objetivos e testáveis, alinhados ao que foi ensinado hoje. A dica final incentiva teste incremental (método por método).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Fazer a ponte para a aula 4: hoje interagimos com o programa pelo console e por caixas de diálogo (Entrada); na próxima aula, aprofundamos interfaces gráficas em Java (Swing) — janelas, componentes e eventos.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 da terceira aula de Programação Avançada. Abrir espaço para perguntas finais, reforçar o prazo do desafio da semana (Sistema de Cadastro de Clientes) e lembrar do tema da próxima aula (Interfaces gráficas em Java, com Swing).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final de contato: convite para conectar no LinkedIn via QR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2.png"/><Relationship Id="rId4" Type="http://schemas.openxmlformats.org/officeDocument/2006/relationships/image" Target="../media/image-31-2.png"/><Relationship Id="rId5" Type="http://schemas.openxmlformats.org/officeDocument/2006/relationships/image" Target="../media/image-31-2.png"/><Relationship Id="rId6" Type="http://schemas.openxmlformats.org/officeDocument/2006/relationships/image" Target="../media/image-31-2.png"/><Relationship Id="rId7" Type="http://schemas.openxmlformats.org/officeDocument/2006/relationships/image" Target="../media/image-31-2.png"/><Relationship Id="rId8" Type="http://schemas.openxmlformats.org/officeDocument/2006/relationships/image" Target="../media/image-3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image" Target="../media/image-33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4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cstatic-focused-allen/mnt/outputs/assets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1417320"/>
            <a:ext cx="6035040" cy="384048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4" name="Text 1"/>
          <p:cNvSpPr/>
          <p:nvPr/>
        </p:nvSpPr>
        <p:spPr>
          <a:xfrm>
            <a:off x="822960" y="141732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AULA 03 · PROGRAMAÇÃO AVANÇADA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77240" y="1965960"/>
            <a:ext cx="9875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Java + PostgreSQL: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JDBC na prática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04672" y="37947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Capturando dados reais do usuário com a classe Entrada e gravando tudo no banco com PreparedStatement.</a:t>
            </a:r>
            <a:endParaRPr lang="en-US" sz="1600" dirty="0"/>
          </a:p>
        </p:txBody>
      </p:sp>
      <p:pic>
        <p:nvPicPr>
          <p:cNvPr id="7" name="Image 1" descr="/sessions/ecstatic-focused-allen/mnt/outputs/assets/im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897880"/>
            <a:ext cx="3291840" cy="7498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448495" y="62910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Portella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cstatic-focused-allen/mnt/outputs/assets/imag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" y="-18288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51A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ROTEIRO DA AULA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6583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vamos ver hoje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508760"/>
            <a:ext cx="2556434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DB3CC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41248" y="1709928"/>
            <a:ext cx="420624" cy="420624"/>
          </a:xfrm>
          <a:prstGeom prst="ellipse">
            <a:avLst/>
          </a:prstGeom>
          <a:solidFill>
            <a:srgbClr val="00346E"/>
          </a:solidFill>
          <a:ln/>
        </p:spPr>
      </p:sp>
      <p:pic>
        <p:nvPicPr>
          <p:cNvPr id="7" name="Image 1" descr="/sessions/ecstatic-focused-allen/mnt/outputs/assets/icons/plu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929" y="1764609"/>
            <a:ext cx="311262" cy="3112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99032" y="1673352"/>
            <a:ext cx="16328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 Preparando o terreno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841248" y="2203704"/>
            <a:ext cx="215409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Como o JDBC conecta ao banco + a classe Entrada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425114" y="1508760"/>
            <a:ext cx="2556434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DB3CC">
                <a:alpha val="2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626282" y="1709928"/>
            <a:ext cx="420624" cy="420624"/>
          </a:xfrm>
          <a:prstGeom prst="ellipse">
            <a:avLst/>
          </a:prstGeom>
          <a:solidFill>
            <a:srgbClr val="00346E"/>
          </a:solidFill>
          <a:ln/>
        </p:spPr>
      </p:sp>
      <p:pic>
        <p:nvPicPr>
          <p:cNvPr id="12" name="Image 2" descr="/sessions/ecstatic-focused-allen/mnt/outputs/assets/icons/sav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0963" y="1764609"/>
            <a:ext cx="311262" cy="3112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184066" y="1673352"/>
            <a:ext cx="16328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 Cadastrando dados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3626282" y="2203704"/>
            <a:ext cx="215409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INSERT com PreparedStatement e Entrada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6210148" y="1508760"/>
            <a:ext cx="2556434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DB3CC">
                <a:alpha val="2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411316" y="1709928"/>
            <a:ext cx="420624" cy="420624"/>
          </a:xfrm>
          <a:prstGeom prst="ellipse">
            <a:avLst/>
          </a:prstGeom>
          <a:solidFill>
            <a:srgbClr val="00346E"/>
          </a:solidFill>
          <a:ln/>
        </p:spPr>
      </p:sp>
      <p:pic>
        <p:nvPicPr>
          <p:cNvPr id="17" name="Image 3" descr="/sessions/ecstatic-focused-allen/mnt/outputs/assets/icons/filte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5997" y="1764609"/>
            <a:ext cx="311262" cy="31126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69100" y="1673352"/>
            <a:ext cx="16328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 Listando e buscando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6411316" y="2203704"/>
            <a:ext cx="215409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SELECT, ResultSet e busca por nome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8995181" y="1508760"/>
            <a:ext cx="2556434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DB3CC">
                <a:alpha val="2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9196349" y="1709928"/>
            <a:ext cx="420624" cy="420624"/>
          </a:xfrm>
          <a:prstGeom prst="ellipse">
            <a:avLst/>
          </a:prstGeom>
          <a:solidFill>
            <a:srgbClr val="00346E"/>
          </a:solidFill>
          <a:ln/>
        </p:spPr>
      </p:sp>
      <p:pic>
        <p:nvPicPr>
          <p:cNvPr id="22" name="Image 4" descr="/sessions/ecstatic-focused-allen/mnt/outputs/assets/icons/edi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1031" y="1764609"/>
            <a:ext cx="311262" cy="31126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754133" y="1673352"/>
            <a:ext cx="16328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 Atualizando registros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9196349" y="2203704"/>
            <a:ext cx="215409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UPDATE com dados digitados pelo usuário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640080" y="3977640"/>
            <a:ext cx="2556434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DB3CC">
                <a:alpha val="25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841248" y="4178808"/>
            <a:ext cx="420624" cy="420624"/>
          </a:xfrm>
          <a:prstGeom prst="ellipse">
            <a:avLst/>
          </a:prstGeom>
          <a:solidFill>
            <a:srgbClr val="00346E"/>
          </a:solidFill>
          <a:ln/>
        </p:spPr>
      </p:sp>
      <p:pic>
        <p:nvPicPr>
          <p:cNvPr id="27" name="Image 5" descr="/sessions/ecstatic-focused-allen/mnt/outputs/assets/icons/trash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929" y="4233489"/>
            <a:ext cx="311262" cy="31126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399032" y="4142232"/>
            <a:ext cx="16328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5. Removendo com confirmação</a:t>
            </a:r>
            <a:endParaRPr lang="en-US" sz="1250" dirty="0"/>
          </a:p>
        </p:txBody>
      </p:sp>
      <p:sp>
        <p:nvSpPr>
          <p:cNvPr id="29" name="Text 21"/>
          <p:cNvSpPr/>
          <p:nvPr/>
        </p:nvSpPr>
        <p:spPr>
          <a:xfrm>
            <a:off x="841248" y="4672584"/>
            <a:ext cx="215409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DELETE com leiaBoolean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3425114" y="3977640"/>
            <a:ext cx="2556434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DB3CC">
                <a:alpha val="25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3626282" y="4178808"/>
            <a:ext cx="420624" cy="420624"/>
          </a:xfrm>
          <a:prstGeom prst="ellipse">
            <a:avLst/>
          </a:prstGeom>
          <a:solidFill>
            <a:srgbClr val="00346E"/>
          </a:solidFill>
          <a:ln/>
        </p:spPr>
      </p:sp>
      <p:pic>
        <p:nvPicPr>
          <p:cNvPr id="32" name="Image 6" descr="/sessions/ecstatic-focused-allen/mnt/outputs/assets/icons/listalt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80963" y="4233489"/>
            <a:ext cx="311262" cy="31126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4184066" y="4142232"/>
            <a:ext cx="16328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6. Um menu completo</a:t>
            </a:r>
            <a:endParaRPr lang="en-US" sz="1250" dirty="0"/>
          </a:p>
        </p:txBody>
      </p:sp>
      <p:sp>
        <p:nvSpPr>
          <p:cNvPr id="34" name="Text 25"/>
          <p:cNvSpPr/>
          <p:nvPr/>
        </p:nvSpPr>
        <p:spPr>
          <a:xfrm>
            <a:off x="3626282" y="4672584"/>
            <a:ext cx="215409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Juntando tudo em um loop com switch</a:t>
            </a:r>
            <a:endParaRPr lang="en-US" sz="1000" dirty="0"/>
          </a:p>
        </p:txBody>
      </p:sp>
      <p:sp>
        <p:nvSpPr>
          <p:cNvPr id="35" name="Shape 26"/>
          <p:cNvSpPr/>
          <p:nvPr/>
        </p:nvSpPr>
        <p:spPr>
          <a:xfrm>
            <a:off x="6210148" y="3977640"/>
            <a:ext cx="2556434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DB3CC">
                <a:alpha val="25000"/>
              </a:srgbClr>
            </a:outerShdw>
          </a:effectLst>
        </p:spPr>
      </p:sp>
      <p:sp>
        <p:nvSpPr>
          <p:cNvPr id="36" name="Shape 27"/>
          <p:cNvSpPr/>
          <p:nvPr/>
        </p:nvSpPr>
        <p:spPr>
          <a:xfrm>
            <a:off x="6411316" y="4178808"/>
            <a:ext cx="420624" cy="420624"/>
          </a:xfrm>
          <a:prstGeom prst="ellipse">
            <a:avLst/>
          </a:prstGeom>
          <a:solidFill>
            <a:srgbClr val="00346E"/>
          </a:solidFill>
          <a:ln/>
        </p:spPr>
      </p:sp>
      <p:pic>
        <p:nvPicPr>
          <p:cNvPr id="37" name="Image 7" descr="/sessions/ecstatic-focused-allen/mnt/outputs/assets/icons/bug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5997" y="4233489"/>
            <a:ext cx="311262" cy="311262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6969100" y="4142232"/>
            <a:ext cx="16328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7. Erros comuns na prática</a:t>
            </a:r>
            <a:endParaRPr lang="en-US" sz="1250" dirty="0"/>
          </a:p>
        </p:txBody>
      </p:sp>
      <p:sp>
        <p:nvSpPr>
          <p:cNvPr id="39" name="Text 29"/>
          <p:cNvSpPr/>
          <p:nvPr/>
        </p:nvSpPr>
        <p:spPr>
          <a:xfrm>
            <a:off x="6411316" y="4672584"/>
            <a:ext cx="215409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SQLException e dicas de depuração</a:t>
            </a:r>
            <a:endParaRPr lang="en-US" sz="1000" dirty="0"/>
          </a:p>
        </p:txBody>
      </p:sp>
      <p:sp>
        <p:nvSpPr>
          <p:cNvPr id="40" name="Shape 30"/>
          <p:cNvSpPr/>
          <p:nvPr/>
        </p:nvSpPr>
        <p:spPr>
          <a:xfrm>
            <a:off x="8995181" y="3977640"/>
            <a:ext cx="2556434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DB3CC">
                <a:alpha val="25000"/>
              </a:srgbClr>
            </a:outerShdw>
          </a:effectLst>
        </p:spPr>
      </p:sp>
      <p:sp>
        <p:nvSpPr>
          <p:cNvPr id="41" name="Shape 31"/>
          <p:cNvSpPr/>
          <p:nvPr/>
        </p:nvSpPr>
        <p:spPr>
          <a:xfrm>
            <a:off x="9196349" y="4178808"/>
            <a:ext cx="420624" cy="420624"/>
          </a:xfrm>
          <a:prstGeom prst="ellipse">
            <a:avLst/>
          </a:prstGeom>
          <a:solidFill>
            <a:srgbClr val="00346E"/>
          </a:solidFill>
          <a:ln/>
        </p:spPr>
      </p:sp>
      <p:pic>
        <p:nvPicPr>
          <p:cNvPr id="42" name="Image 8" descr="/sessions/ecstatic-focused-allen/mnt/outputs/assets/icons/rocket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51031" y="4233489"/>
            <a:ext cx="311262" cy="311262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9754133" y="4142232"/>
            <a:ext cx="16328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8. Mão na massa</a:t>
            </a:r>
            <a:endParaRPr lang="en-US" sz="1250" dirty="0"/>
          </a:p>
        </p:txBody>
      </p:sp>
      <p:sp>
        <p:nvSpPr>
          <p:cNvPr id="44" name="Text 33"/>
          <p:cNvSpPr/>
          <p:nvPr/>
        </p:nvSpPr>
        <p:spPr>
          <a:xfrm>
            <a:off x="9196349" y="4672584"/>
            <a:ext cx="215409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Projeto guiado e desafio da semana</a:t>
            </a:r>
            <a:endParaRPr lang="en-US" sz="1000" dirty="0"/>
          </a:p>
        </p:txBody>
      </p:sp>
      <p:pic>
        <p:nvPicPr>
          <p:cNvPr id="45" name="Image 9" descr="/sessions/ecstatic-focused-allen/mnt/outputs/assets/logo_mark_nav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624767" y="6400800"/>
            <a:ext cx="256032" cy="256032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Portella</a:t>
            </a:r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·  Programação Avançada</a:t>
            </a:r>
            <a:endParaRPr lang="en-US" sz="900" dirty="0"/>
          </a:p>
        </p:txBody>
      </p:sp>
      <p:sp>
        <p:nvSpPr>
          <p:cNvPr id="47" name="Text 35"/>
          <p:cNvSpPr/>
          <p:nvPr/>
        </p:nvSpPr>
        <p:spPr>
          <a:xfrm>
            <a:off x="11185855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34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cstatic-focused-allen/mnt/outputs/assets/imag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118872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4" name="Text 1"/>
          <p:cNvSpPr/>
          <p:nvPr/>
        </p:nvSpPr>
        <p:spPr>
          <a:xfrm>
            <a:off x="822960" y="1188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BLOCO 1 DE 8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77240" y="265176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Preparando o terreno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804672" y="39776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JDBC de verdade: arquitetura, drivers, URL de conexão — e a classe Entrada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9174175" y="2377440"/>
            <a:ext cx="1554480" cy="155448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8" name="Image 1" descr="/sessions/ecstatic-focused-allen/mnt/outputs/assets/icons/plug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6258" y="2579522"/>
            <a:ext cx="1150315" cy="1150315"/>
          </a:xfrm>
          <a:prstGeom prst="rect">
            <a:avLst/>
          </a:prstGeom>
        </p:spPr>
      </p:pic>
      <p:pic>
        <p:nvPicPr>
          <p:cNvPr id="9" name="Image 2" descr="/sessions/ecstatic-focused-allen/mnt/outputs/assets/logo_mar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4767" y="6400800"/>
            <a:ext cx="256032" cy="256032"/>
          </a:xfrm>
          <a:prstGeom prst="rect">
            <a:avLst/>
          </a:prstGeom>
        </p:spPr>
      </p:pic>
      <p:pic>
        <p:nvPicPr>
          <p:cNvPr id="10" name="Image 3" descr="/sessions/ecstatic-focused-allen/mnt/outputs/assets/logo_mar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24767" y="6400800"/>
            <a:ext cx="256032" cy="2560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Portella</a:t>
            </a:r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·  Programação Avançada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11185855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51A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BLOCO 1 · PREPARANDO O TERRENO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é JDBC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346E"/>
                </a:solidFill>
              </a:rPr>
              <a:t>JDBC (Java Database Connectivity):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6233D"/>
                </a:solidFill>
              </a:rPr>
              <a:t>a API padrão do Java para conectar a bancos de dados relacionais. O mesmo código Java funciona com PostgreSQL, MySQL, Oracle etc. — só mudam o driver e a URL de conexão.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2419274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DB3CC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21117" y="2560320"/>
            <a:ext cx="457200" cy="457200"/>
          </a:xfrm>
          <a:prstGeom prst="ellipse">
            <a:avLst/>
          </a:prstGeom>
          <a:solidFill>
            <a:srgbClr val="00346E"/>
          </a:solidFill>
          <a:ln/>
        </p:spPr>
      </p:sp>
      <p:pic>
        <p:nvPicPr>
          <p:cNvPr id="7" name="Image 0" descr="/sessions/ecstatic-focused-allen/mnt/outputs/assets/icons/java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0553" y="2619756"/>
            <a:ext cx="338328" cy="338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108960"/>
            <a:ext cx="2236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Programa Java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49808" y="3429000"/>
            <a:ext cx="21998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Chama getConnection(), executeQuery() e afins.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059354" y="3127248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8B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3470834" y="2377440"/>
            <a:ext cx="2419274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DB3CC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51871" y="2560320"/>
            <a:ext cx="457200" cy="457200"/>
          </a:xfrm>
          <a:prstGeom prst="ellipse">
            <a:avLst/>
          </a:prstGeom>
          <a:solidFill>
            <a:srgbClr val="0051A1"/>
          </a:solidFill>
          <a:ln/>
        </p:spPr>
      </p:sp>
      <p:pic>
        <p:nvPicPr>
          <p:cNvPr id="13" name="Image 1" descr="/sessions/ecstatic-focused-allen/mnt/outputs/assets/icons/plu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1307" y="2619756"/>
            <a:ext cx="338328" cy="3383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62274" y="3108960"/>
            <a:ext cx="2236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JDBC API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580562" y="3429000"/>
            <a:ext cx="21998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Interface padrão: Connection, Statement, ResultSet.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890108" y="3127248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8B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3"/>
          <p:cNvSpPr/>
          <p:nvPr/>
        </p:nvSpPr>
        <p:spPr>
          <a:xfrm>
            <a:off x="6301588" y="2377440"/>
            <a:ext cx="2419274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DB3CC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282625" y="2560320"/>
            <a:ext cx="457200" cy="457200"/>
          </a:xfrm>
          <a:prstGeom prst="ellipse">
            <a:avLst/>
          </a:prstGeom>
          <a:solidFill>
            <a:srgbClr val="0051A1"/>
          </a:solidFill>
          <a:ln/>
        </p:spPr>
      </p:sp>
      <p:pic>
        <p:nvPicPr>
          <p:cNvPr id="19" name="Image 2" descr="/sessions/ecstatic-focused-allen/mnt/outputs/assets/icons/exchang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061" y="2619756"/>
            <a:ext cx="338328" cy="33832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93028" y="3108960"/>
            <a:ext cx="2236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Driver JDBC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411316" y="3429000"/>
            <a:ext cx="21998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Traduz as chamadas para o protocolo do banco.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8720861" y="3127248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8B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18"/>
          <p:cNvSpPr/>
          <p:nvPr/>
        </p:nvSpPr>
        <p:spPr>
          <a:xfrm>
            <a:off x="9132341" y="2377440"/>
            <a:ext cx="2419274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DB3CC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10113378" y="2560320"/>
            <a:ext cx="457200" cy="457200"/>
          </a:xfrm>
          <a:prstGeom prst="ellipse">
            <a:avLst/>
          </a:prstGeom>
          <a:solidFill>
            <a:srgbClr val="00346E"/>
          </a:solidFill>
          <a:ln/>
        </p:spPr>
      </p:sp>
      <p:pic>
        <p:nvPicPr>
          <p:cNvPr id="25" name="Image 3" descr="/sessions/ecstatic-focused-allen/mnt/outputs/assets/icons/databas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2814" y="2619756"/>
            <a:ext cx="338328" cy="33832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223781" y="3108960"/>
            <a:ext cx="2236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9242069" y="3429000"/>
            <a:ext cx="21998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Onde os dados realmente ficam gravados.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640080" y="4617720"/>
            <a:ext cx="10911535" cy="1417320"/>
          </a:xfrm>
          <a:prstGeom prst="roundRect">
            <a:avLst>
              <a:gd name="adj" fmla="val 5806"/>
            </a:avLst>
          </a:prstGeom>
          <a:solidFill>
            <a:srgbClr val="F3F7FC"/>
          </a:solidFill>
          <a:ln/>
          <a:effectLst>
            <a:outerShdw sx="100000" sy="100000" kx="0" ky="0" algn="bl" rotWithShape="0" blurRad="76200" dist="25400" dir="5400000">
              <a:srgbClr val="9DB3CC">
                <a:alpha val="25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822960" y="4828032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50" b="1" dirty="0">
                <a:solidFill>
                  <a:srgbClr val="00346E"/>
                </a:solidFill>
              </a:rPr>
              <a:t>Por que isso importa: </a:t>
            </a:r>
            <a:pPr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16233D"/>
                </a:solidFill>
              </a:rPr>
              <a:t>se um dia trocarmos o PostgreSQL por outro banco, boa parte do código (Connection, PreparedStatement, ResultSet) continua igual — só o driver e a URL mudam.</a:t>
            </a:r>
            <a:endParaRPr lang="en-US" sz="1350" dirty="0"/>
          </a:p>
        </p:txBody>
      </p:sp>
      <p:pic>
        <p:nvPicPr>
          <p:cNvPr id="30" name="Image 4" descr="/sessions/ecstatic-focused-allen/mnt/outputs/assets/logo_mark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24767" y="6400800"/>
            <a:ext cx="256032" cy="25603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Portella</a:t>
            </a:r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·  Programação Avançada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185855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51A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BLOCO 1 · PREPARANDO O TERRENO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Maven: gerenciando o projeto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346E"/>
                </a:solidFill>
              </a:rPr>
              <a:t>Maven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6233D"/>
                </a:solidFill>
              </a:rPr>
              <a:t>é a ferramenta que builda o projeto e baixa as bibliotecas (dependências) que ele precisa — como o driver do PostgreSQL — automaticamente, a partir de um arquivo de configuração: o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51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pom.xml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6233D"/>
                </a:solidFill>
              </a:rPr>
              <a:t>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45429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DB3CC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532888"/>
            <a:ext cx="457200" cy="457200"/>
          </a:xfrm>
          <a:prstGeom prst="ellipse">
            <a:avLst/>
          </a:prstGeom>
          <a:solidFill>
            <a:srgbClr val="00346E"/>
          </a:solidFill>
          <a:ln/>
        </p:spPr>
      </p:sp>
      <p:pic>
        <p:nvPicPr>
          <p:cNvPr id="7" name="Image 0" descr="/sessions/ecstatic-focused-allen/mnt/outputs/assets/icons/filecod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592324"/>
            <a:ext cx="338328" cy="338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35608" y="2496312"/>
            <a:ext cx="2494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pom.xml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41248" y="3063240"/>
            <a:ext cx="30519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Config do projeto: nome, versão e as dependências que ele usa.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68698" y="2331720"/>
            <a:ext cx="345429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DB3CC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69866" y="2532888"/>
            <a:ext cx="457200" cy="457200"/>
          </a:xfrm>
          <a:prstGeom prst="ellipse">
            <a:avLst/>
          </a:prstGeom>
          <a:solidFill>
            <a:srgbClr val="00346E"/>
          </a:solidFill>
          <a:ln/>
        </p:spPr>
      </p:sp>
      <p:pic>
        <p:nvPicPr>
          <p:cNvPr id="12" name="Image 1" descr="/sessions/ecstatic-focused-allen/mnt/outputs/assets/icons/folderope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302" y="2592324"/>
            <a:ext cx="338328" cy="3383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64226" y="2496312"/>
            <a:ext cx="2494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src/main/java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69866" y="3063240"/>
            <a:ext cx="30519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Onde ficam nossas classes .java, dentro do pacote br.univates.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097317" y="2331720"/>
            <a:ext cx="345429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DB3CC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98485" y="2532888"/>
            <a:ext cx="457200" cy="457200"/>
          </a:xfrm>
          <a:prstGeom prst="ellipse">
            <a:avLst/>
          </a:prstGeom>
          <a:solidFill>
            <a:srgbClr val="00346E"/>
          </a:solidFill>
          <a:ln/>
        </p:spPr>
      </p:sp>
      <p:pic>
        <p:nvPicPr>
          <p:cNvPr id="17" name="Image 2" descr="/sessions/ecstatic-focused-allen/mnt/outputs/assets/icons/termina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921" y="2592324"/>
            <a:ext cx="338328" cy="33832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892845" y="2496312"/>
            <a:ext cx="2494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mvn ...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298485" y="3063240"/>
            <a:ext cx="30519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Comandos que compilam e rodam o projeto pelo terminal.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931920"/>
          <a:ext cx="108813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749808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Comando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O que faz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6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34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mvn compile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3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Compila todas as classes do projeto.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34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mvn exec:java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3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Roda a classe definida em exec.mainClass, no pom.xml.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34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mvn exec:java -D...=Classe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3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Roda uma classe específica, escolhida na hora.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34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mvn clean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3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Apaga os arquivos compilados (a pasta target/).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</a:tr>
            </a:tbl>
          </a:graphicData>
        </a:graphic>
      </p:graphicFrame>
      <p:pic>
        <p:nvPicPr>
          <p:cNvPr id="21" name="Image 3" descr="/sessions/ecstatic-focused-allen/mnt/outputs/assets/logo_mar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24767" y="6400800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Portella</a:t>
            </a:r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·  Programação Avançada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1185855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cstatic-focused-allen/mnt/outputs/assets/imag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" y="-18288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51A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BLOCO 1 · PREPARANDO O TERRENO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6583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Tipos de driver JDBC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834640"/>
                <a:gridCol w="67665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Tipo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Nome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Como funciona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6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34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Tipo 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3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JDBC-ODBC Bridge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Traduz JDBC para ODBC. Obsoleto, removido do Java 8+.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34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Tipo 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3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Native-API driver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Parte Java, parte biblioteca nativa do banco (.dll/.so).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34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Tipo 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3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Network Protocol driver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Fala com um middleware que traduz para o banco.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34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Tipo 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3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Thin driver (Pure Java)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100% Java, fala direto o protocolo do banco. É o nosso caso.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40080" y="4572000"/>
            <a:ext cx="10911535" cy="1554480"/>
          </a:xfrm>
          <a:prstGeom prst="roundRect">
            <a:avLst>
              <a:gd name="adj" fmla="val 5294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5400000">
              <a:srgbClr val="0B1B33">
                <a:alpha val="35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822960" y="4718304"/>
            <a:ext cx="100584" cy="100584"/>
          </a:xfrm>
          <a:prstGeom prst="ellipse">
            <a:avLst/>
          </a:prstGeom>
          <a:solidFill>
            <a:srgbClr val="E0605C"/>
          </a:solidFill>
          <a:ln/>
        </p:spPr>
      </p:sp>
      <p:sp>
        <p:nvSpPr>
          <p:cNvPr id="8" name="Shape 4"/>
          <p:cNvSpPr/>
          <p:nvPr/>
        </p:nvSpPr>
        <p:spPr>
          <a:xfrm>
            <a:off x="1024128" y="4718304"/>
            <a:ext cx="100584" cy="100584"/>
          </a:xfrm>
          <a:prstGeom prst="ellipse">
            <a:avLst/>
          </a:prstGeom>
          <a:solidFill>
            <a:srgbClr val="E7B93F"/>
          </a:solidFill>
          <a:ln/>
        </p:spPr>
      </p:sp>
      <p:sp>
        <p:nvSpPr>
          <p:cNvPr id="9" name="Shape 5"/>
          <p:cNvSpPr/>
          <p:nvPr/>
        </p:nvSpPr>
        <p:spPr>
          <a:xfrm>
            <a:off x="1225296" y="4718304"/>
            <a:ext cx="100584" cy="100584"/>
          </a:xfrm>
          <a:prstGeom prst="ellipse">
            <a:avLst/>
          </a:prstGeom>
          <a:solidFill>
            <a:srgbClr val="3EBD5B"/>
          </a:solidFill>
          <a:ln/>
        </p:spPr>
      </p:sp>
      <p:sp>
        <p:nvSpPr>
          <p:cNvPr id="10" name="Text 6"/>
          <p:cNvSpPr/>
          <p:nvPr/>
        </p:nvSpPr>
        <p:spPr>
          <a:xfrm>
            <a:off x="640080" y="4700016"/>
            <a:ext cx="1091153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aula3/pom.xml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960120" y="5029200"/>
            <a:ext cx="102714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&lt;dependency&gt;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&lt;groupId&gt;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BE3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org.postgresql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&lt;/groupId&gt;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&lt;artifactId&gt;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BE3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postgresql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&lt;/artifactId&gt;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&lt;/dependency&gt;</a:t>
            </a:r>
            <a:endParaRPr lang="en-US" sz="1200" dirty="0"/>
          </a:p>
        </p:txBody>
      </p:sp>
      <p:pic>
        <p:nvPicPr>
          <p:cNvPr id="12" name="Image 1" descr="/sessions/ecstatic-focused-allen/mnt/outputs/assets/logo_mar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4767" y="6400800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Portella</a:t>
            </a:r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·  Programação Avançada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1185855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51A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BLOCO 1 · PREPARANDO O TERRENO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string de conexão (JDBC URL)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46E"/>
                </a:solidFill>
              </a:rPr>
              <a:t>Formato geral: </a:t>
            </a:r>
            <a:pPr indent="0" marL="0">
              <a:buNone/>
            </a:pPr>
            <a:r>
              <a:rPr lang="en-US" sz="1400" b="1" dirty="0">
                <a:solidFill>
                  <a:srgbClr val="0051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jdbc:&lt;subprotocolo&gt;://&lt;host&gt;:&lt;porta&gt;/&lt;banco&gt;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8813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722376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Banco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Formato da URL JDBC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Porta padrão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34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PostgreSQL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3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jdbc:postgresql://host:5432/banco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5432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34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MySQL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3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jdbc:mysql://host:3306/banco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3306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34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SQL Server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3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jdbc:sqlserver://host:1433;databaseName=banco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1433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34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Oracle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3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jdbc:oracle:thin:@host:1521:banco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1521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4343400"/>
            <a:ext cx="10911535" cy="1920240"/>
          </a:xfrm>
          <a:prstGeom prst="roundRect">
            <a:avLst>
              <a:gd name="adj" fmla="val 4286"/>
            </a:avLst>
          </a:prstGeom>
          <a:solidFill>
            <a:srgbClr val="F3F7FC"/>
          </a:solidFill>
          <a:ln/>
          <a:effectLst>
            <a:outerShdw sx="100000" sy="100000" kx="0" ky="0" algn="bl" rotWithShape="0" blurRad="76200" dist="25400" dir="5400000">
              <a:srgbClr val="9DB3CC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4526280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46E"/>
                </a:solidFill>
              </a:rPr>
              <a:t>Nossa URL: </a:t>
            </a:r>
            <a:pPr indent="0" marL="0">
              <a:buNone/>
            </a:pPr>
            <a:r>
              <a:rPr lang="en-US" sz="1300" b="1" dirty="0">
                <a:solidFill>
                  <a:srgbClr val="0051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jdbc:postgresql://localhost:5432/loja_avancada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4892040"/>
            <a:ext cx="105457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0051A1"/>
                </a:solidFill>
              </a:rPr>
              <a:t>postgresql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6233D"/>
                </a:solidFill>
              </a:rPr>
              <a:t>— subprotocolo, indica o driver Tipo 4 do PostgreSQL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0051A1"/>
                </a:solidFill>
              </a:rPr>
              <a:t>localhost:5432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6233D"/>
                </a:solidFill>
              </a:rPr>
              <a:t>— host e porta onde o PostgreSQL está rodando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0051A1"/>
                </a:solidFill>
              </a:rPr>
              <a:t>loja_avancada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6233D"/>
                </a:solidFill>
              </a:rPr>
              <a:t> — nome do banco, criado na aula 2</a:t>
            </a:r>
            <a:endParaRPr lang="en-US" sz="1250" dirty="0"/>
          </a:p>
        </p:txBody>
      </p:sp>
      <p:pic>
        <p:nvPicPr>
          <p:cNvPr id="9" name="Image 0" descr="/sessions/ecstatic-focused-allen/mnt/outputs/assets/logo_mar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24767" y="640080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Portella</a:t>
            </a:r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·  Programação Avançada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185855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cstatic-focused-allen/mnt/outputs/assets/imag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" y="-18288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51A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BLOCO 1 · PREPARANDO O TERRENO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6583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Exemplo de conexão no código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600200"/>
            <a:ext cx="5532120" cy="3291840"/>
          </a:xfrm>
          <a:prstGeom prst="roundRect">
            <a:avLst>
              <a:gd name="adj" fmla="val 2500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5400000">
              <a:srgbClr val="0B1B33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1746504"/>
            <a:ext cx="100584" cy="100584"/>
          </a:xfrm>
          <a:prstGeom prst="ellipse">
            <a:avLst/>
          </a:prstGeom>
          <a:solidFill>
            <a:srgbClr val="E0605C"/>
          </a:solidFill>
          <a:ln/>
        </p:spPr>
      </p:sp>
      <p:sp>
        <p:nvSpPr>
          <p:cNvPr id="7" name="Shape 4"/>
          <p:cNvSpPr/>
          <p:nvPr/>
        </p:nvSpPr>
        <p:spPr>
          <a:xfrm>
            <a:off x="1024128" y="1746504"/>
            <a:ext cx="100584" cy="100584"/>
          </a:xfrm>
          <a:prstGeom prst="ellipse">
            <a:avLst/>
          </a:prstGeom>
          <a:solidFill>
            <a:srgbClr val="E7B93F"/>
          </a:solidFill>
          <a:ln/>
        </p:spPr>
      </p:sp>
      <p:sp>
        <p:nvSpPr>
          <p:cNvPr id="8" name="Shape 5"/>
          <p:cNvSpPr/>
          <p:nvPr/>
        </p:nvSpPr>
        <p:spPr>
          <a:xfrm>
            <a:off x="1225296" y="1746504"/>
            <a:ext cx="100584" cy="100584"/>
          </a:xfrm>
          <a:prstGeom prst="ellipse">
            <a:avLst/>
          </a:prstGeom>
          <a:solidFill>
            <a:srgbClr val="3EBD5B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2057400"/>
            <a:ext cx="4892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String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url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=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BE3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"jdbc:postgresql://localhost:5432/loja_avancada"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String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usuario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=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BE3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"postgres"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String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senha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=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BE3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"minhaSenha"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try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Connection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conexao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=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 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DriverManager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getConnection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url, usuario, senha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)) {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 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System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println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BE3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"Conectado!"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} 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catch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SQLException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e) {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 e.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printStackTrace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();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355080" y="1737360"/>
            <a:ext cx="5166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try-with-resources</a:t>
            </a:r>
            <a:endParaRPr lang="en-US" sz="1250" dirty="0"/>
          </a:p>
          <a:p>
            <a:pPr lvl="1"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fecha a Connection sozinho, mesmo se der erro no meio.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DriverManager</a:t>
            </a:r>
            <a:endParaRPr lang="en-US" sz="1250" dirty="0"/>
          </a:p>
          <a:p>
            <a:pPr lvl="1"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escolhe o driver certo pelo prefixo da URL (jdbc:postgresql).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SQLException</a:t>
            </a:r>
            <a:endParaRPr lang="en-US" sz="1250" dirty="0"/>
          </a:p>
          <a:p>
            <a:pPr lvl="1"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exceção verificada — todo método JDBC pode lançar.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40080" y="5074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Arquivo: </a:t>
            </a:r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aula3/MenuProdutos.java</a:t>
            </a:r>
            <a:endParaRPr lang="en-US" sz="1100" dirty="0"/>
          </a:p>
        </p:txBody>
      </p:sp>
      <p:pic>
        <p:nvPicPr>
          <p:cNvPr id="12" name="Image 1" descr="/sessions/ecstatic-focused-allen/mnt/outputs/assets/logo_mar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4767" y="6400800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Portella</a:t>
            </a:r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·  Programação Avançada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185855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cstatic-focused-allen/mnt/outputs/assets/imag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" y="-18288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51A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BLOCO 1 · PREPARANDO O TERRENO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6583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classe Entrada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600200"/>
            <a:ext cx="5486400" cy="1691640"/>
          </a:xfrm>
          <a:prstGeom prst="roundRect">
            <a:avLst>
              <a:gd name="adj" fmla="val 4865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5400000">
              <a:srgbClr val="0B1B33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1746504"/>
            <a:ext cx="100584" cy="100584"/>
          </a:xfrm>
          <a:prstGeom prst="ellipse">
            <a:avLst/>
          </a:prstGeom>
          <a:solidFill>
            <a:srgbClr val="E0605C"/>
          </a:solidFill>
          <a:ln/>
        </p:spPr>
      </p:sp>
      <p:sp>
        <p:nvSpPr>
          <p:cNvPr id="7" name="Shape 4"/>
          <p:cNvSpPr/>
          <p:nvPr/>
        </p:nvSpPr>
        <p:spPr>
          <a:xfrm>
            <a:off x="1024128" y="1746504"/>
            <a:ext cx="100584" cy="100584"/>
          </a:xfrm>
          <a:prstGeom prst="ellipse">
            <a:avLst/>
          </a:prstGeom>
          <a:solidFill>
            <a:srgbClr val="E7B93F"/>
          </a:solidFill>
          <a:ln/>
        </p:spPr>
      </p:sp>
      <p:sp>
        <p:nvSpPr>
          <p:cNvPr id="8" name="Shape 5"/>
          <p:cNvSpPr/>
          <p:nvPr/>
        </p:nvSpPr>
        <p:spPr>
          <a:xfrm>
            <a:off x="1225296" y="1746504"/>
            <a:ext cx="100584" cy="100584"/>
          </a:xfrm>
          <a:prstGeom prst="ellipse">
            <a:avLst/>
          </a:prstGeom>
          <a:solidFill>
            <a:srgbClr val="3EBD5B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205740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import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br.univates.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Entrada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String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nome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=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Entrada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leiaString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BE3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"Nome:"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);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309360" y="164592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leiaXxx()</a:t>
            </a:r>
            <a:endParaRPr lang="en-US" sz="1200" dirty="0"/>
          </a:p>
          <a:p>
            <a:pPr lvl="1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abre uma janela pedindo um dado — o programa só continua depois que o usuário confirma.</a:t>
            </a:r>
            <a:endParaRPr lang="en-US" sz="1200" dirty="0"/>
          </a:p>
          <a:p>
            <a:pPr marL="228600" indent="-2286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 construtor</a:t>
            </a:r>
            <a:endParaRPr lang="en-US" sz="1200" dirty="0"/>
          </a:p>
          <a:p>
            <a:pPr lvl="1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os métodos são estáticos, chamados direto na classe.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611880"/>
          <a:ext cx="91440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645920"/>
                <a:gridCol w="45720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Método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Tipo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Exemplo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6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34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leiaString(prompt)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3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String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Entrada.leiaString("Nome:")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34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leiaInt(prompt)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3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int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Entrada.leiaInt("Qtd:")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34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leiaDouble(prompt)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3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double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Entrada.leiaDouble("Preço:")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34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leiaBoolean(prompt)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3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boolean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Entrada.leiaBoolean("Confirma?")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</a:tr>
            </a:tbl>
          </a:graphicData>
        </a:graphic>
      </p:graphicFrame>
      <p:pic>
        <p:nvPicPr>
          <p:cNvPr id="12" name="Image 1" descr="/sessions/ecstatic-focused-allen/mnt/outputs/assets/logo_mar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4767" y="6400800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Portella</a:t>
            </a:r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·  Programação Avançada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1185855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AB4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50292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AB40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502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PARE E PENSE · INTERAÇÃO 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271455" y="457200"/>
            <a:ext cx="1051560" cy="1051560"/>
          </a:xfrm>
          <a:prstGeom prst="ellipse">
            <a:avLst/>
          </a:prstGeom>
          <a:solidFill>
            <a:srgbClr val="00346E"/>
          </a:solidFill>
          <a:ln/>
        </p:spPr>
      </p:sp>
      <p:pic>
        <p:nvPicPr>
          <p:cNvPr id="6" name="Image 0" descr="/sessions/ecstatic-focused-allen/mnt/outputs/assets/icons/keyboard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8158" y="593903"/>
            <a:ext cx="778154" cy="7781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1143000"/>
            <a:ext cx="107286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700" b="1" i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"Por que um programa real não pode ter</a:t>
            </a:r>
            <a:endParaRPr lang="en-US" sz="2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700" b="1" i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os dados 'fixos' direto no código-fonte?"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822960" y="2880360"/>
            <a:ext cx="1036289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623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Pensem no que aconteceria se toda vez que alguém quisesse cadastrar um produto diferente, fosse preciso editar e recompilar o código Java.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623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 outras formas de capturar dados do usuário vocês já conhecem, além de caixas de diálogo (Entrada)?</a:t>
            </a:r>
            <a:endParaRPr lang="en-US" sz="1600" dirty="0"/>
          </a:p>
        </p:txBody>
      </p:sp>
      <p:pic>
        <p:nvPicPr>
          <p:cNvPr id="9" name="Image 1" descr="/sessions/ecstatic-focused-allen/mnt/outputs/assets/logo_mar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4767" y="640080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Portella</a:t>
            </a:r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·  Programação Avançada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185855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34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cstatic-focused-allen/mnt/outputs/assets/imag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118872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4" name="Text 1"/>
          <p:cNvSpPr/>
          <p:nvPr/>
        </p:nvSpPr>
        <p:spPr>
          <a:xfrm>
            <a:off x="822960" y="1188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BLOCO 2 DE 8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77240" y="265176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Cadastrando dados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804672" y="39776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INSERT com PreparedStatement e Entrada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9174175" y="2377440"/>
            <a:ext cx="1554480" cy="155448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8" name="Image 1" descr="/sessions/ecstatic-focused-allen/mnt/outputs/assets/icons/save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6258" y="2579522"/>
            <a:ext cx="1150315" cy="1150315"/>
          </a:xfrm>
          <a:prstGeom prst="rect">
            <a:avLst/>
          </a:prstGeom>
        </p:spPr>
      </p:pic>
      <p:pic>
        <p:nvPicPr>
          <p:cNvPr id="9" name="Image 2" descr="/sessions/ecstatic-focused-allen/mnt/outputs/assets/logo_mar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4767" y="6400800"/>
            <a:ext cx="256032" cy="256032"/>
          </a:xfrm>
          <a:prstGeom prst="rect">
            <a:avLst/>
          </a:prstGeom>
        </p:spPr>
      </p:pic>
      <p:pic>
        <p:nvPicPr>
          <p:cNvPr id="10" name="Image 3" descr="/sessions/ecstatic-focused-allen/mnt/outputs/assets/logo_mar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24767" y="6400800"/>
            <a:ext cx="256032" cy="2560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Portella</a:t>
            </a:r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·  Programação Avançada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11185855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51A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BLOCO 2 · CADASTRANDO DADOS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Pedindo dados e gravando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36285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DB3CC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92909" y="1783080"/>
            <a:ext cx="457200" cy="457200"/>
          </a:xfrm>
          <a:prstGeom prst="ellipse">
            <a:avLst/>
          </a:prstGeom>
          <a:solidFill>
            <a:srgbClr val="00346E"/>
          </a:solidFill>
          <a:ln/>
        </p:spPr>
      </p:sp>
      <p:pic>
        <p:nvPicPr>
          <p:cNvPr id="6" name="Image 0" descr="/sessions/ecstatic-focused-allen/mnt/outputs/assets/icons/keyboar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2345" y="184251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331720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 Pedir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9808" y="2651760"/>
            <a:ext cx="31434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Entrada.leiaString / leiaDouble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002938" y="2144268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8B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4414418" y="1600200"/>
            <a:ext cx="336285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DB3CC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867248" y="1783080"/>
            <a:ext cx="457200" cy="457200"/>
          </a:xfrm>
          <a:prstGeom prst="ellipse">
            <a:avLst/>
          </a:prstGeom>
          <a:solidFill>
            <a:srgbClr val="0051A1"/>
          </a:solidFill>
          <a:ln/>
        </p:spPr>
      </p:sp>
      <p:pic>
        <p:nvPicPr>
          <p:cNvPr id="12" name="Image 1" descr="/sessions/ecstatic-focused-allen/mnt/outputs/assets/icons/shiel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6684" y="1842516"/>
            <a:ext cx="338328" cy="3383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05858" y="2331720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 Preparar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24146" y="2651760"/>
            <a:ext cx="31434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PreparedStatement com ?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7777277" y="2144268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8B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2"/>
          <p:cNvSpPr/>
          <p:nvPr/>
        </p:nvSpPr>
        <p:spPr>
          <a:xfrm>
            <a:off x="8188757" y="1600200"/>
            <a:ext cx="336285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DB3CC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641586" y="1783080"/>
            <a:ext cx="457200" cy="457200"/>
          </a:xfrm>
          <a:prstGeom prst="ellipse">
            <a:avLst/>
          </a:prstGeom>
          <a:solidFill>
            <a:srgbClr val="00346E"/>
          </a:solidFill>
          <a:ln/>
        </p:spPr>
      </p:sp>
      <p:pic>
        <p:nvPicPr>
          <p:cNvPr id="18" name="Image 2" descr="/sessions/ecstatic-focused-allen/mnt/outputs/assets/icons/sav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1022" y="1842516"/>
            <a:ext cx="338328" cy="33832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80197" y="2331720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 Gravar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298485" y="2651760"/>
            <a:ext cx="31434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executeUpdate()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40080" y="3429000"/>
            <a:ext cx="6675120" cy="2286000"/>
          </a:xfrm>
          <a:prstGeom prst="roundRect">
            <a:avLst>
              <a:gd name="adj" fmla="val 3600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5400000">
              <a:srgbClr val="0B1B33">
                <a:alpha val="3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2960" y="3575304"/>
            <a:ext cx="100584" cy="100584"/>
          </a:xfrm>
          <a:prstGeom prst="ellipse">
            <a:avLst/>
          </a:prstGeom>
          <a:solidFill>
            <a:srgbClr val="E0605C"/>
          </a:solidFill>
          <a:ln/>
        </p:spPr>
      </p:sp>
      <p:sp>
        <p:nvSpPr>
          <p:cNvPr id="23" name="Shape 18"/>
          <p:cNvSpPr/>
          <p:nvPr/>
        </p:nvSpPr>
        <p:spPr>
          <a:xfrm>
            <a:off x="1024128" y="3575304"/>
            <a:ext cx="100584" cy="100584"/>
          </a:xfrm>
          <a:prstGeom prst="ellipse">
            <a:avLst/>
          </a:prstGeom>
          <a:solidFill>
            <a:srgbClr val="E7B93F"/>
          </a:solidFill>
          <a:ln/>
        </p:spPr>
      </p:sp>
      <p:sp>
        <p:nvSpPr>
          <p:cNvPr id="24" name="Shape 19"/>
          <p:cNvSpPr/>
          <p:nvPr/>
        </p:nvSpPr>
        <p:spPr>
          <a:xfrm>
            <a:off x="1225296" y="3575304"/>
            <a:ext cx="100584" cy="100584"/>
          </a:xfrm>
          <a:prstGeom prst="ellipse">
            <a:avLst/>
          </a:prstGeom>
          <a:solidFill>
            <a:srgbClr val="3EBD5B"/>
          </a:solidFill>
          <a:ln/>
        </p:spPr>
      </p:sp>
      <p:sp>
        <p:nvSpPr>
          <p:cNvPr id="25" name="Text 20"/>
          <p:cNvSpPr/>
          <p:nvPr/>
        </p:nvSpPr>
        <p:spPr>
          <a:xfrm>
            <a:off x="960120" y="3886200"/>
            <a:ext cx="603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String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nome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=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Entrada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leiaString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BE3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"Nome:"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double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preco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=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Entrada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leiaDouble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BE3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"Preço:"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pstmt.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setString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(1, nome);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pstmt.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setDouble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(2, preco);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pstmt.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executeUpdate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();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640080" y="5806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Arquivo: </a:t>
            </a:r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aula3/CadastrarProduto.java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7589520" y="3520440"/>
            <a:ext cx="3977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Regra de ouro</a:t>
            </a:r>
            <a:endParaRPr lang="en-US" sz="1200" dirty="0"/>
          </a:p>
          <a:p>
            <a:pPr lvl="1"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valor vindo de Entrada é sempre "de fora" — nunca concatenar, sempre PreparedStatement.</a:t>
            </a:r>
            <a:endParaRPr lang="en-US" sz="120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Cadastrar vários</a:t>
            </a:r>
            <a:endParaRPr lang="en-US" sz="1200" dirty="0"/>
          </a:p>
          <a:p>
            <a:pPr lvl="1"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basta envolver em um while, perguntando Entrada.leiaBoolean("Cadastrar outro?") a cada volta.</a:t>
            </a:r>
            <a:endParaRPr lang="en-US" sz="1200" dirty="0"/>
          </a:p>
        </p:txBody>
      </p:sp>
      <p:pic>
        <p:nvPicPr>
          <p:cNvPr id="28" name="Image 3" descr="/sessions/ecstatic-focused-allen/mnt/outputs/assets/logo_mar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24767" y="6400800"/>
            <a:ext cx="256032" cy="25603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Portella</a:t>
            </a:r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·  Programação Avançada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185855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AB4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50292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AB40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502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MÃO NA MASSA · INTERAÇÃO 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271455" y="457200"/>
            <a:ext cx="1051560" cy="1051560"/>
          </a:xfrm>
          <a:prstGeom prst="ellipse">
            <a:avLst/>
          </a:prstGeom>
          <a:solidFill>
            <a:srgbClr val="00346E"/>
          </a:solidFill>
          <a:ln/>
        </p:spPr>
      </p:sp>
      <p:pic>
        <p:nvPicPr>
          <p:cNvPr id="6" name="Image 0" descr="/sessions/ecstatic-focused-allen/mnt/outputs/assets/icons/save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8158" y="593903"/>
            <a:ext cx="778154" cy="7781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1143000"/>
            <a:ext cx="107286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700" b="1" i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Exercício: abram o CadastrarVarios.java e cadastrem</a:t>
            </a:r>
            <a:endParaRPr lang="en-US" sz="2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700" b="1" i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produtos, um atrás do outro, sem fechar o programa.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822960" y="2880360"/>
            <a:ext cx="1036289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623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Reparem em como o leiaBoolean("Cadastrar outro?") controla o while.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623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Confiram no psql se os 3 produtos realmente foram gravados na tabela.</a:t>
            </a:r>
            <a:endParaRPr lang="en-US" sz="1600" dirty="0"/>
          </a:p>
        </p:txBody>
      </p:sp>
      <p:pic>
        <p:nvPicPr>
          <p:cNvPr id="9" name="Image 1" descr="/sessions/ecstatic-focused-allen/mnt/outputs/assets/logo_mar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4767" y="640080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Portella</a:t>
            </a:r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·  Programação Avançada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185855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34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cstatic-focused-allen/mnt/outputs/assets/imag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118872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4" name="Text 1"/>
          <p:cNvSpPr/>
          <p:nvPr/>
        </p:nvSpPr>
        <p:spPr>
          <a:xfrm>
            <a:off x="822960" y="1188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BLOCO 3 DE 8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77240" y="265176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Listando e buscando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804672" y="39776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SELECT, ResultSet e busca por nome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9174175" y="2377440"/>
            <a:ext cx="1554480" cy="155448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8" name="Image 1" descr="/sessions/ecstatic-focused-allen/mnt/outputs/assets/icons/filter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6258" y="2579522"/>
            <a:ext cx="1150315" cy="1150315"/>
          </a:xfrm>
          <a:prstGeom prst="rect">
            <a:avLst/>
          </a:prstGeom>
        </p:spPr>
      </p:pic>
      <p:pic>
        <p:nvPicPr>
          <p:cNvPr id="9" name="Image 2" descr="/sessions/ecstatic-focused-allen/mnt/outputs/assets/logo_mar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4767" y="6400800"/>
            <a:ext cx="256032" cy="256032"/>
          </a:xfrm>
          <a:prstGeom prst="rect">
            <a:avLst/>
          </a:prstGeom>
        </p:spPr>
      </p:pic>
      <p:pic>
        <p:nvPicPr>
          <p:cNvPr id="10" name="Image 3" descr="/sessions/ecstatic-focused-allen/mnt/outputs/assets/logo_mar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24767" y="6400800"/>
            <a:ext cx="256032" cy="2560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Portella</a:t>
            </a:r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·  Programação Avançada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11185855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cstatic-focused-allen/mnt/outputs/assets/imag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" y="-18288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51A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BLOCO 3 · LISTANDO E BUSCANDO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6583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Consultando e buscando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645920"/>
            <a:ext cx="5394960" cy="2286000"/>
          </a:xfrm>
          <a:prstGeom prst="roundRect">
            <a:avLst>
              <a:gd name="adj" fmla="val 3600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5400000">
              <a:srgbClr val="0B1B33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1792224"/>
            <a:ext cx="100584" cy="100584"/>
          </a:xfrm>
          <a:prstGeom prst="ellipse">
            <a:avLst/>
          </a:prstGeom>
          <a:solidFill>
            <a:srgbClr val="E0605C"/>
          </a:solidFill>
          <a:ln/>
        </p:spPr>
      </p:sp>
      <p:sp>
        <p:nvSpPr>
          <p:cNvPr id="7" name="Shape 4"/>
          <p:cNvSpPr/>
          <p:nvPr/>
        </p:nvSpPr>
        <p:spPr>
          <a:xfrm>
            <a:off x="1024128" y="1792224"/>
            <a:ext cx="100584" cy="100584"/>
          </a:xfrm>
          <a:prstGeom prst="ellipse">
            <a:avLst/>
          </a:prstGeom>
          <a:solidFill>
            <a:srgbClr val="E7B93F"/>
          </a:solidFill>
          <a:ln/>
        </p:spPr>
      </p:sp>
      <p:sp>
        <p:nvSpPr>
          <p:cNvPr id="8" name="Shape 5"/>
          <p:cNvSpPr/>
          <p:nvPr/>
        </p:nvSpPr>
        <p:spPr>
          <a:xfrm>
            <a:off x="1225296" y="1792224"/>
            <a:ext cx="100584" cy="100584"/>
          </a:xfrm>
          <a:prstGeom prst="ellipse">
            <a:avLst/>
          </a:prstGeom>
          <a:solidFill>
            <a:srgbClr val="3EBD5B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773936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ListarProdutos.java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60120" y="210312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ResultSet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rs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=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stmt.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executeQuery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(sql);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while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(rs.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()) {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System.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println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(rs.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getString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BE3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"nome"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));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63640" y="1645920"/>
            <a:ext cx="5303520" cy="2286000"/>
          </a:xfrm>
          <a:prstGeom prst="roundRect">
            <a:avLst>
              <a:gd name="adj" fmla="val 3600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5400000">
              <a:srgbClr val="0B1B33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46520" y="1792224"/>
            <a:ext cx="100584" cy="100584"/>
          </a:xfrm>
          <a:prstGeom prst="ellipse">
            <a:avLst/>
          </a:prstGeom>
          <a:solidFill>
            <a:srgbClr val="E0605C"/>
          </a:solidFill>
          <a:ln/>
        </p:spPr>
      </p:sp>
      <p:sp>
        <p:nvSpPr>
          <p:cNvPr id="13" name="Shape 10"/>
          <p:cNvSpPr/>
          <p:nvPr/>
        </p:nvSpPr>
        <p:spPr>
          <a:xfrm>
            <a:off x="6647688" y="1792224"/>
            <a:ext cx="100584" cy="100584"/>
          </a:xfrm>
          <a:prstGeom prst="ellipse">
            <a:avLst/>
          </a:prstGeom>
          <a:solidFill>
            <a:srgbClr val="E7B93F"/>
          </a:solidFill>
          <a:ln/>
        </p:spPr>
      </p:sp>
      <p:sp>
        <p:nvSpPr>
          <p:cNvPr id="14" name="Shape 11"/>
          <p:cNvSpPr/>
          <p:nvPr/>
        </p:nvSpPr>
        <p:spPr>
          <a:xfrm>
            <a:off x="6848856" y="1792224"/>
            <a:ext cx="100584" cy="100584"/>
          </a:xfrm>
          <a:prstGeom prst="ellipse">
            <a:avLst/>
          </a:prstGeom>
          <a:solidFill>
            <a:srgbClr val="3EBD5B"/>
          </a:solidFill>
          <a:ln/>
        </p:spPr>
      </p:sp>
      <p:sp>
        <p:nvSpPr>
          <p:cNvPr id="15" name="Text 12"/>
          <p:cNvSpPr/>
          <p:nvPr/>
        </p:nvSpPr>
        <p:spPr>
          <a:xfrm>
            <a:off x="6263640" y="177393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BuscarProduto.java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583680" y="210312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String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termo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=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Entrada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leiaString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BE3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"Buscar:"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String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sql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=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BE3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"... WHERE nome ILIKE ?"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pstmt.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setString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(1,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BE3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"%"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termo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BE3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"%"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);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40080" y="4160520"/>
            <a:ext cx="10911535" cy="1965960"/>
          </a:xfrm>
          <a:prstGeom prst="roundRect">
            <a:avLst>
              <a:gd name="adj" fmla="val 4186"/>
            </a:avLst>
          </a:prstGeom>
          <a:solidFill>
            <a:srgbClr val="F3F7FC"/>
          </a:solidFill>
          <a:ln/>
          <a:effectLst>
            <a:outerShdw sx="100000" sy="100000" kx="0" ky="0" algn="bl" rotWithShape="0" blurRad="76200" dist="25400" dir="5400000">
              <a:srgbClr val="9DB3CC">
                <a:alpha val="2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914400" y="4370832"/>
            <a:ext cx="1036289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while (rs.next())</a:t>
            </a:r>
            <a:endParaRPr lang="en-US" sz="1250" dirty="0"/>
          </a:p>
          <a:p>
            <a:pPr lvl="1"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padrão universal para percorrer um ResultSet, linha por linha.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ILIKE</a:t>
            </a:r>
            <a:endParaRPr lang="en-US" sz="1250" dirty="0"/>
          </a:p>
          <a:p>
            <a:pPr lvl="1"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como o LIKE da aula 2, mas ignorando maiúsculas/minúsculas — o "%" é montado em Java, então o ? continua protegendo contra SQL Injection.</a:t>
            </a:r>
            <a:endParaRPr lang="en-US" sz="1250" dirty="0"/>
          </a:p>
        </p:txBody>
      </p:sp>
      <p:pic>
        <p:nvPicPr>
          <p:cNvPr id="19" name="Image 1" descr="/sessions/ecstatic-focused-allen/mnt/outputs/assets/logo_mar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4767" y="6400800"/>
            <a:ext cx="256032" cy="25603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Portella</a:t>
            </a:r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·  Programação Avançada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185855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AB4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50292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AB40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502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MÃO NA MASSA · INTERAÇÃO 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271455" y="457200"/>
            <a:ext cx="1051560" cy="1051560"/>
          </a:xfrm>
          <a:prstGeom prst="ellipse">
            <a:avLst/>
          </a:prstGeom>
          <a:solidFill>
            <a:srgbClr val="00346E"/>
          </a:solidFill>
          <a:ln/>
        </p:spPr>
      </p:sp>
      <p:pic>
        <p:nvPicPr>
          <p:cNvPr id="6" name="Image 0" descr="/sessions/ecstatic-focused-allen/mnt/outputs/assets/icons/filter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8158" y="593903"/>
            <a:ext cx="778154" cy="7781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1143000"/>
            <a:ext cx="107286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700" b="1" i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Exercício: rodem o BuscarProduto.java e testem</a:t>
            </a:r>
            <a:endParaRPr lang="en-US" sz="2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700" b="1" i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buscar por um pedaço do nome (ex: "reg" para "régua").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822960" y="2880360"/>
            <a:ext cx="1036289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623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Reparem que a busca funciona mesmo digitando só parte do nome, em qualquer caixa.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623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Tentem modificar o arquivo para também mostrar o preço na busca.</a:t>
            </a:r>
            <a:endParaRPr lang="en-US" sz="1600" dirty="0"/>
          </a:p>
        </p:txBody>
      </p:sp>
      <p:pic>
        <p:nvPicPr>
          <p:cNvPr id="9" name="Image 1" descr="/sessions/ecstatic-focused-allen/mnt/outputs/assets/logo_mar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4767" y="640080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Portella</a:t>
            </a:r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·  Programação Avançada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185855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34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cstatic-focused-allen/mnt/outputs/assets/imag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118872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4" name="Text 1"/>
          <p:cNvSpPr/>
          <p:nvPr/>
        </p:nvSpPr>
        <p:spPr>
          <a:xfrm>
            <a:off x="822960" y="1188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BLOCO 4 DE 8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77240" y="265176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Atualizando registros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804672" y="39776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UPDATE com dados digitados pelo usuário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9174175" y="2377440"/>
            <a:ext cx="1554480" cy="155448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8" name="Image 1" descr="/sessions/ecstatic-focused-allen/mnt/outputs/assets/icons/edit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6258" y="2579522"/>
            <a:ext cx="1150315" cy="1150315"/>
          </a:xfrm>
          <a:prstGeom prst="rect">
            <a:avLst/>
          </a:prstGeom>
        </p:spPr>
      </p:pic>
      <p:pic>
        <p:nvPicPr>
          <p:cNvPr id="9" name="Image 2" descr="/sessions/ecstatic-focused-allen/mnt/outputs/assets/logo_mar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4767" y="6400800"/>
            <a:ext cx="256032" cy="256032"/>
          </a:xfrm>
          <a:prstGeom prst="rect">
            <a:avLst/>
          </a:prstGeom>
        </p:spPr>
      </p:pic>
      <p:pic>
        <p:nvPicPr>
          <p:cNvPr id="10" name="Image 3" descr="/sessions/ecstatic-focused-allen/mnt/outputs/assets/logo_mar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24767" y="6400800"/>
            <a:ext cx="256032" cy="2560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Portella</a:t>
            </a:r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·  Programação Avançada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11185855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51A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BLOCO 4 · ATUALIZANDO REGISTROS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Atualizando com segurança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577840" cy="2651760"/>
          </a:xfrm>
          <a:prstGeom prst="roundRect">
            <a:avLst>
              <a:gd name="adj" fmla="val 3103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5400000">
              <a:srgbClr val="0B1B33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92224"/>
            <a:ext cx="100584" cy="100584"/>
          </a:xfrm>
          <a:prstGeom prst="ellipse">
            <a:avLst/>
          </a:prstGeom>
          <a:solidFill>
            <a:srgbClr val="E0605C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792224"/>
            <a:ext cx="100584" cy="100584"/>
          </a:xfrm>
          <a:prstGeom prst="ellipse">
            <a:avLst/>
          </a:prstGeom>
          <a:solidFill>
            <a:srgbClr val="E7B93F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1792224"/>
            <a:ext cx="100584" cy="100584"/>
          </a:xfrm>
          <a:prstGeom prst="ellipse">
            <a:avLst/>
          </a:prstGeom>
          <a:solidFill>
            <a:srgbClr val="3EBD5B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10312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id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=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Entrada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leiaInt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BE3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"ID:"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double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novoPreco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=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Entrada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leiaDouble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BE3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"Novo preço:"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pstmt.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setDouble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(1, novoPreco);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pstmt.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setInt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(2, id);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linhas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=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pstmt.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executeUpdate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();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Arquivo: </a:t>
            </a:r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aula3/AtualizarProduto.java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0" y="1737360"/>
            <a:ext cx="49834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Ordem dos ?</a:t>
            </a:r>
            <a:endParaRPr lang="en-US" sz="1250" dirty="0"/>
          </a:p>
          <a:p>
            <a:pPr lvl="1"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1º ? do SQL é o preço, o 2º é o ID — setDouble(1,...) e setInt(2,...) seguem essa ordem.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linhas == 0</a:t>
            </a:r>
            <a:endParaRPr lang="en-US" sz="1250" dirty="0"/>
          </a:p>
          <a:p>
            <a:pPr lvl="1"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sinal de que nenhum produto tinha aquele ID — o programa avisa o usuário em vez de assumir sucesso.</a:t>
            </a:r>
            <a:endParaRPr lang="en-US" sz="1250" dirty="0"/>
          </a:p>
        </p:txBody>
      </p:sp>
      <p:pic>
        <p:nvPicPr>
          <p:cNvPr id="11" name="Image 0" descr="/sessions/ecstatic-focused-allen/mnt/outputs/assets/logo_mar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24767" y="6400800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Portella</a:t>
            </a:r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·  Programação Avançada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185855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AB4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50292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AB40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502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MÃO NA MASSA · INTERAÇÃO 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271455" y="457200"/>
            <a:ext cx="1051560" cy="1051560"/>
          </a:xfrm>
          <a:prstGeom prst="ellipse">
            <a:avLst/>
          </a:prstGeom>
          <a:solidFill>
            <a:srgbClr val="00346E"/>
          </a:solidFill>
          <a:ln/>
        </p:spPr>
      </p:sp>
      <p:pic>
        <p:nvPicPr>
          <p:cNvPr id="6" name="Image 0" descr="/sessions/ecstatic-focused-allen/mnt/outputs/assets/icons/edit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8158" y="593903"/>
            <a:ext cx="778154" cy="7781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1143000"/>
            <a:ext cx="107286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700" b="1" i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Exercício: rodem o AtualizarProduto.java com um ID</a:t>
            </a:r>
            <a:endParaRPr lang="en-US" sz="2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700" b="1" i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 existe, e depois com um ID que não existe.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822960" y="2880360"/>
            <a:ext cx="1036289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623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Comparem as duas mensagens que o programa mostra.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623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 que é importante checar o retorno de executeUpdate() antes de avisar o usuário?</a:t>
            </a:r>
            <a:endParaRPr lang="en-US" sz="1600" dirty="0"/>
          </a:p>
        </p:txBody>
      </p:sp>
      <p:pic>
        <p:nvPicPr>
          <p:cNvPr id="9" name="Image 1" descr="/sessions/ecstatic-focused-allen/mnt/outputs/assets/logo_mar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4767" y="640080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Portella</a:t>
            </a:r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·  Programação Avançada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185855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34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cstatic-focused-allen/mnt/outputs/assets/imag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118872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4" name="Text 1"/>
          <p:cNvSpPr/>
          <p:nvPr/>
        </p:nvSpPr>
        <p:spPr>
          <a:xfrm>
            <a:off x="822960" y="1188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BLOCO 5 DE 8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77240" y="265176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Removendo com confirmação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804672" y="39776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DELETE com leiaBoolean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9174175" y="2377440"/>
            <a:ext cx="1554480" cy="155448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8" name="Image 1" descr="/sessions/ecstatic-focused-allen/mnt/outputs/assets/icons/trash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6258" y="2579522"/>
            <a:ext cx="1150315" cy="1150315"/>
          </a:xfrm>
          <a:prstGeom prst="rect">
            <a:avLst/>
          </a:prstGeom>
        </p:spPr>
      </p:pic>
      <p:pic>
        <p:nvPicPr>
          <p:cNvPr id="9" name="Image 2" descr="/sessions/ecstatic-focused-allen/mnt/outputs/assets/logo_mar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4767" y="6400800"/>
            <a:ext cx="256032" cy="256032"/>
          </a:xfrm>
          <a:prstGeom prst="rect">
            <a:avLst/>
          </a:prstGeom>
        </p:spPr>
      </p:pic>
      <p:pic>
        <p:nvPicPr>
          <p:cNvPr id="10" name="Image 3" descr="/sessions/ecstatic-focused-allen/mnt/outputs/assets/logo_mar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24767" y="6400800"/>
            <a:ext cx="256032" cy="2560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Portella</a:t>
            </a:r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·  Programação Avançada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11185855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cstatic-focused-allen/mnt/outputs/assets/imag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" y="-18288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51A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BLOCO 5 · REMOVENDO COM CONFIRMAÇÃO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6583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Confirmando antes de remover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645920"/>
            <a:ext cx="5577840" cy="2651760"/>
          </a:xfrm>
          <a:prstGeom prst="roundRect">
            <a:avLst>
              <a:gd name="adj" fmla="val 3103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5400000">
              <a:srgbClr val="0B1B33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1792224"/>
            <a:ext cx="100584" cy="100584"/>
          </a:xfrm>
          <a:prstGeom prst="ellipse">
            <a:avLst/>
          </a:prstGeom>
          <a:solidFill>
            <a:srgbClr val="E0605C"/>
          </a:solidFill>
          <a:ln/>
        </p:spPr>
      </p:sp>
      <p:sp>
        <p:nvSpPr>
          <p:cNvPr id="7" name="Shape 4"/>
          <p:cNvSpPr/>
          <p:nvPr/>
        </p:nvSpPr>
        <p:spPr>
          <a:xfrm>
            <a:off x="1024128" y="1792224"/>
            <a:ext cx="100584" cy="100584"/>
          </a:xfrm>
          <a:prstGeom prst="ellipse">
            <a:avLst/>
          </a:prstGeom>
          <a:solidFill>
            <a:srgbClr val="E7B93F"/>
          </a:solidFill>
          <a:ln/>
        </p:spPr>
      </p:sp>
      <p:sp>
        <p:nvSpPr>
          <p:cNvPr id="8" name="Shape 5"/>
          <p:cNvSpPr/>
          <p:nvPr/>
        </p:nvSpPr>
        <p:spPr>
          <a:xfrm>
            <a:off x="1225296" y="1792224"/>
            <a:ext cx="100584" cy="100584"/>
          </a:xfrm>
          <a:prstGeom prst="ellipse">
            <a:avLst/>
          </a:prstGeom>
          <a:solidFill>
            <a:srgbClr val="3EBD5B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210312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id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=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Entrada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leiaInt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BE3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"ID:"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boolean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confirma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=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Entrada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leiaBoolean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BE3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"Remover produto?"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if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(confirma) {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pstmt.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executeUpdate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();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Arquivo: </a:t>
            </a:r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aula3/RemoverProduto.java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583680" y="1737360"/>
            <a:ext cx="49834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Ação destrutiva</a:t>
            </a:r>
            <a:endParaRPr lang="en-US" sz="1250" dirty="0"/>
          </a:p>
          <a:p>
            <a:pPr lvl="1"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depois de removido, o dado se foi — por isso confirmamos antes de agir.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leiaBoolean</a:t>
            </a:r>
            <a:endParaRPr lang="en-US" sz="1250" dirty="0"/>
          </a:p>
          <a:p>
            <a:pPr lvl="1"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mostra uma pergunta com duas opções, e só prossegue quando o usuário escolhe.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Padrão de hoje</a:t>
            </a:r>
            <a:endParaRPr lang="en-US" sz="1250" dirty="0"/>
          </a:p>
          <a:p>
            <a:pPr lvl="1"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pedir ID → confirmar → só então executar o DELETE.</a:t>
            </a:r>
            <a:endParaRPr lang="en-US" sz="1250" dirty="0"/>
          </a:p>
        </p:txBody>
      </p:sp>
      <p:pic>
        <p:nvPicPr>
          <p:cNvPr id="12" name="Image 1" descr="/sessions/ecstatic-focused-allen/mnt/outputs/assets/logo_mar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4767" y="6400800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Portella</a:t>
            </a:r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·  Programação Avançada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185855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AB4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50292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AB40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502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MÃO NA MASSA · INTERAÇÃO 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271455" y="457200"/>
            <a:ext cx="1051560" cy="1051560"/>
          </a:xfrm>
          <a:prstGeom prst="ellipse">
            <a:avLst/>
          </a:prstGeom>
          <a:solidFill>
            <a:srgbClr val="00346E"/>
          </a:solidFill>
          <a:ln/>
        </p:spPr>
      </p:sp>
      <p:pic>
        <p:nvPicPr>
          <p:cNvPr id="6" name="Image 0" descr="/sessions/ecstatic-focused-allen/mnt/outputs/assets/icons/trash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8158" y="593903"/>
            <a:ext cx="778154" cy="7781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1143000"/>
            <a:ext cx="107286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700" b="1" i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Exercício: rodem o RemoverProduto.java</a:t>
            </a:r>
            <a:endParaRPr lang="en-US" sz="2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700" b="1" i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duas vezes — uma confirmando e outra</a:t>
            </a:r>
            <a:endParaRPr lang="en-US" sz="2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700" b="1" i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cancelando a remoção.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822960" y="2880360"/>
            <a:ext cx="1036289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623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Confirmem que, ao cancelar, nenhum produto é removido do banco.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623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aconteceria se o if (confirma) não existisse no código?</a:t>
            </a:r>
            <a:endParaRPr lang="en-US" sz="1600" dirty="0"/>
          </a:p>
        </p:txBody>
      </p:sp>
      <p:pic>
        <p:nvPicPr>
          <p:cNvPr id="9" name="Image 1" descr="/sessions/ecstatic-focused-allen/mnt/outputs/assets/logo_mar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4767" y="640080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Portella</a:t>
            </a:r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·  Programação Avançada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185855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34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cstatic-focused-allen/mnt/outputs/assets/imag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118872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4" name="Text 1"/>
          <p:cNvSpPr/>
          <p:nvPr/>
        </p:nvSpPr>
        <p:spPr>
          <a:xfrm>
            <a:off x="822960" y="1188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BLOCO 6 DE 8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77240" y="265176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 menu completo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804672" y="39776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Juntando tudo em um loop com switch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9174175" y="2377440"/>
            <a:ext cx="1554480" cy="155448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8" name="Image 1" descr="/sessions/ecstatic-focused-allen/mnt/outputs/assets/icons/listalt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6258" y="2579522"/>
            <a:ext cx="1150315" cy="1150315"/>
          </a:xfrm>
          <a:prstGeom prst="rect">
            <a:avLst/>
          </a:prstGeom>
        </p:spPr>
      </p:pic>
      <p:pic>
        <p:nvPicPr>
          <p:cNvPr id="9" name="Image 2" descr="/sessions/ecstatic-focused-allen/mnt/outputs/assets/logo_mar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4767" y="6400800"/>
            <a:ext cx="256032" cy="256032"/>
          </a:xfrm>
          <a:prstGeom prst="rect">
            <a:avLst/>
          </a:prstGeom>
        </p:spPr>
      </p:pic>
      <p:pic>
        <p:nvPicPr>
          <p:cNvPr id="10" name="Image 3" descr="/sessions/ecstatic-focused-allen/mnt/outputs/assets/logo_mar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24767" y="6400800"/>
            <a:ext cx="256032" cy="2560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Portella</a:t>
            </a:r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·  Programação Avançada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11185855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51A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BLOCO 6 · UM MENU COMPLETO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Menu com switch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760720" cy="3108960"/>
          </a:xfrm>
          <a:prstGeom prst="roundRect">
            <a:avLst>
              <a:gd name="adj" fmla="val 2647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5400000">
              <a:srgbClr val="0B1B33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92224"/>
            <a:ext cx="100584" cy="100584"/>
          </a:xfrm>
          <a:prstGeom prst="ellipse">
            <a:avLst/>
          </a:prstGeom>
          <a:solidFill>
            <a:srgbClr val="E0605C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792224"/>
            <a:ext cx="100584" cy="100584"/>
          </a:xfrm>
          <a:prstGeom prst="ellipse">
            <a:avLst/>
          </a:prstGeom>
          <a:solidFill>
            <a:srgbClr val="E7B93F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1792224"/>
            <a:ext cx="100584" cy="100584"/>
          </a:xfrm>
          <a:prstGeom prst="ellipse">
            <a:avLst/>
          </a:prstGeom>
          <a:solidFill>
            <a:srgbClr val="3EBD5B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103120"/>
            <a:ext cx="5120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{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opcao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=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Entrada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leiaInt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(menu);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switch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(opcao) {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 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case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1: cadastrar(); 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break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 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case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2: listar(); 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break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 </a:t>
            </a:r>
            <a:pPr indent="0" marL="0">
              <a:lnSpc>
                <a:spcPct val="128000"/>
              </a:lnSpc>
              <a:buNone/>
            </a:pPr>
            <a:r>
              <a:rPr lang="en-US" sz="1350" i="1" dirty="0">
                <a:solidFill>
                  <a:srgbClr val="7C8D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// 3: atualizar()  4: remover()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}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while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(opcao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!=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5);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4892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Arquivo: </a:t>
            </a:r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aula3/MenuProdutos.java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20840" y="1645920"/>
            <a:ext cx="233172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DB3CC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922008" y="1847088"/>
            <a:ext cx="384048" cy="384048"/>
          </a:xfrm>
          <a:prstGeom prst="ellipse">
            <a:avLst/>
          </a:prstGeom>
          <a:solidFill>
            <a:srgbClr val="00346E"/>
          </a:solidFill>
          <a:ln/>
        </p:spPr>
      </p:sp>
      <p:pic>
        <p:nvPicPr>
          <p:cNvPr id="12" name="Image 0" descr="/sessions/ecstatic-focused-allen/mnt/outputs/assets/icons/sav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1934" y="1897014"/>
            <a:ext cx="284196" cy="28419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443216" y="1810512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cadastrar()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922008" y="2304288"/>
            <a:ext cx="19293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Entrada + PreparedStatement (bloco 2).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9235440" y="1645920"/>
            <a:ext cx="233172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DB3CC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9436608" y="1847088"/>
            <a:ext cx="384048" cy="384048"/>
          </a:xfrm>
          <a:prstGeom prst="ellipse">
            <a:avLst/>
          </a:prstGeom>
          <a:solidFill>
            <a:srgbClr val="00346E"/>
          </a:solidFill>
          <a:ln/>
        </p:spPr>
      </p:sp>
      <p:pic>
        <p:nvPicPr>
          <p:cNvPr id="17" name="Image 1" descr="/sessions/ecstatic-focused-allen/mnt/outputs/assets/icons/filt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534" y="1897014"/>
            <a:ext cx="284196" cy="28419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957816" y="1810512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listar()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9436608" y="2304288"/>
            <a:ext cx="19293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executeQuery + while(rs.next()) (bloco 3).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720840" y="3337560"/>
            <a:ext cx="233172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DB3CC">
                <a:alpha val="2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922008" y="3538728"/>
            <a:ext cx="384048" cy="384048"/>
          </a:xfrm>
          <a:prstGeom prst="ellipse">
            <a:avLst/>
          </a:prstGeom>
          <a:solidFill>
            <a:srgbClr val="00346E"/>
          </a:solidFill>
          <a:ln/>
        </p:spPr>
      </p:sp>
      <p:pic>
        <p:nvPicPr>
          <p:cNvPr id="22" name="Image 2" descr="/sessions/ecstatic-focused-allen/mnt/outputs/assets/icons/edi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1934" y="3588654"/>
            <a:ext cx="284196" cy="28419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443216" y="3502152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atualizar()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6922008" y="3995928"/>
            <a:ext cx="19293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 + novo preço, UPDATE (bloco 4).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9235440" y="3337560"/>
            <a:ext cx="233172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DB3CC">
                <a:alpha val="2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436608" y="3538728"/>
            <a:ext cx="384048" cy="384048"/>
          </a:xfrm>
          <a:prstGeom prst="ellipse">
            <a:avLst/>
          </a:prstGeom>
          <a:solidFill>
            <a:srgbClr val="00346E"/>
          </a:solidFill>
          <a:ln/>
        </p:spPr>
      </p:sp>
      <p:pic>
        <p:nvPicPr>
          <p:cNvPr id="27" name="Image 3" descr="/sessions/ecstatic-focused-allen/mnt/outputs/assets/icons/trash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534" y="3588654"/>
            <a:ext cx="284196" cy="28419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957816" y="3502152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remover()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9436608" y="3995928"/>
            <a:ext cx="19293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leiaBoolean + DELETE (bloco 5).</a:t>
            </a:r>
            <a:endParaRPr lang="en-US" sz="1050" dirty="0"/>
          </a:p>
        </p:txBody>
      </p:sp>
      <p:pic>
        <p:nvPicPr>
          <p:cNvPr id="30" name="Image 4" descr="/sessions/ecstatic-focused-allen/mnt/outputs/assets/logo_mark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24767" y="6400800"/>
            <a:ext cx="256032" cy="25603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Portella</a:t>
            </a:r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·  Programação Avançada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185855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AB4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50292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AB40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502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MÃO NA MASSA · INTERAÇÃO 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271455" y="457200"/>
            <a:ext cx="1051560" cy="1051560"/>
          </a:xfrm>
          <a:prstGeom prst="ellipse">
            <a:avLst/>
          </a:prstGeom>
          <a:solidFill>
            <a:srgbClr val="00346E"/>
          </a:solidFill>
          <a:ln/>
        </p:spPr>
      </p:sp>
      <p:pic>
        <p:nvPicPr>
          <p:cNvPr id="6" name="Image 0" descr="/sessions/ecstatic-focused-allen/mnt/outputs/assets/icons/listalt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8158" y="593903"/>
            <a:ext cx="778154" cy="7781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1143000"/>
            <a:ext cx="107286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700" b="1" i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Exercício: rodem o MenuProdutos.java e usem</a:t>
            </a:r>
            <a:endParaRPr lang="en-US" sz="2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700" b="1" i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todas as opções — cadastrar, listar, atualizar e remover.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822960" y="2880360"/>
            <a:ext cx="1036289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623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Confiram que o menu sempre volta a aparecer, até vocês escolherem "Sair".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623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Leiam o código de cada método (cadastrar, listar, atualizar, remover) e identifiquem de qual bloco ele veio.</a:t>
            </a:r>
            <a:endParaRPr lang="en-US" sz="1600" dirty="0"/>
          </a:p>
        </p:txBody>
      </p:sp>
      <p:pic>
        <p:nvPicPr>
          <p:cNvPr id="9" name="Image 1" descr="/sessions/ecstatic-focused-allen/mnt/outputs/assets/logo_mar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4767" y="640080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Portella</a:t>
            </a:r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·  Programação Avançada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185855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34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cstatic-focused-allen/mnt/outputs/assets/imag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118872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4" name="Text 1"/>
          <p:cNvSpPr/>
          <p:nvPr/>
        </p:nvSpPr>
        <p:spPr>
          <a:xfrm>
            <a:off x="822960" y="1188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BLOCO 7 DE 8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77240" y="265176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Erros comuns na prática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804672" y="39776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SQLException e dicas de depuração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9174175" y="2377440"/>
            <a:ext cx="1554480" cy="155448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8" name="Image 1" descr="/sessions/ecstatic-focused-allen/mnt/outputs/assets/icons/bug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6258" y="2579522"/>
            <a:ext cx="1150315" cy="1150315"/>
          </a:xfrm>
          <a:prstGeom prst="rect">
            <a:avLst/>
          </a:prstGeom>
        </p:spPr>
      </p:pic>
      <p:pic>
        <p:nvPicPr>
          <p:cNvPr id="9" name="Image 2" descr="/sessions/ecstatic-focused-allen/mnt/outputs/assets/logo_mar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4767" y="6400800"/>
            <a:ext cx="256032" cy="256032"/>
          </a:xfrm>
          <a:prstGeom prst="rect">
            <a:avLst/>
          </a:prstGeom>
        </p:spPr>
      </p:pic>
      <p:pic>
        <p:nvPicPr>
          <p:cNvPr id="10" name="Image 3" descr="/sessions/ecstatic-focused-allen/mnt/outputs/assets/logo_mar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24767" y="6400800"/>
            <a:ext cx="256032" cy="2560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Portella</a:t>
            </a:r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·  Programação Avançada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11185855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cstatic-focused-allen/mnt/outputs/assets/imag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" y="-18288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51A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BLOCO 7 · ERROS COMUNS NA PRÁTICA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6583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SQLException e erros comuns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600200"/>
            <a:ext cx="10911535" cy="1371600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5400000">
              <a:srgbClr val="0B1B33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1746504"/>
            <a:ext cx="100584" cy="100584"/>
          </a:xfrm>
          <a:prstGeom prst="ellipse">
            <a:avLst/>
          </a:prstGeom>
          <a:solidFill>
            <a:srgbClr val="E0605C"/>
          </a:solidFill>
          <a:ln/>
        </p:spPr>
      </p:sp>
      <p:sp>
        <p:nvSpPr>
          <p:cNvPr id="7" name="Shape 4"/>
          <p:cNvSpPr/>
          <p:nvPr/>
        </p:nvSpPr>
        <p:spPr>
          <a:xfrm>
            <a:off x="1024128" y="1746504"/>
            <a:ext cx="100584" cy="100584"/>
          </a:xfrm>
          <a:prstGeom prst="ellipse">
            <a:avLst/>
          </a:prstGeom>
          <a:solidFill>
            <a:srgbClr val="E7B93F"/>
          </a:solidFill>
          <a:ln/>
        </p:spPr>
      </p:sp>
      <p:sp>
        <p:nvSpPr>
          <p:cNvPr id="8" name="Shape 5"/>
          <p:cNvSpPr/>
          <p:nvPr/>
        </p:nvSpPr>
        <p:spPr>
          <a:xfrm>
            <a:off x="1225296" y="1746504"/>
            <a:ext cx="100584" cy="100584"/>
          </a:xfrm>
          <a:prstGeom prst="ellipse">
            <a:avLst/>
          </a:prstGeom>
          <a:solidFill>
            <a:srgbClr val="3EBD5B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2057400"/>
            <a:ext cx="10271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try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{ </a:t>
            </a:r>
            <a:pPr indent="0" marL="0">
              <a:lnSpc>
                <a:spcPct val="128000"/>
              </a:lnSpc>
              <a:buNone/>
            </a:pPr>
            <a:r>
              <a:rPr lang="en-US" sz="1350" i="1" dirty="0">
                <a:solidFill>
                  <a:srgbClr val="7C8D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/* cadastrar, listar, atualizar, remover... */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}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catch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SQLException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e) { System.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err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println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BE3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"Erro: "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e.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getMessage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8FA6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()); }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3246120"/>
            <a:ext cx="5318608" cy="130302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DB3CC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41248" y="3447288"/>
            <a:ext cx="438912" cy="438912"/>
          </a:xfrm>
          <a:prstGeom prst="ellipse">
            <a:avLst/>
          </a:prstGeom>
          <a:solidFill>
            <a:srgbClr val="00346E"/>
          </a:solidFill>
          <a:ln/>
        </p:spPr>
      </p:sp>
      <p:pic>
        <p:nvPicPr>
          <p:cNvPr id="12" name="Image 1" descr="/sessions/ecstatic-focused-allen/mnt/outputs/assets/icons/so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307" y="3504347"/>
            <a:ext cx="324795" cy="32479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3410712"/>
            <a:ext cx="4376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Trocar a ordem dos ?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841248" y="3959352"/>
            <a:ext cx="491627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setString(1,...) e setDouble(2,...) precisam bater com a ordem dos ? no SQL.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33008" y="3246120"/>
            <a:ext cx="5318608" cy="130302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DB3CC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34176" y="3447288"/>
            <a:ext cx="438912" cy="438912"/>
          </a:xfrm>
          <a:prstGeom prst="ellipse">
            <a:avLst/>
          </a:prstGeom>
          <a:solidFill>
            <a:srgbClr val="00346E"/>
          </a:solidFill>
          <a:ln/>
        </p:spPr>
      </p:sp>
      <p:pic>
        <p:nvPicPr>
          <p:cNvPr id="17" name="Image 2" descr="/sessions/ecstatic-focused-allen/mnt/outputs/assets/icons/plug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1234" y="3504347"/>
            <a:ext cx="324795" cy="32479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010248" y="3410712"/>
            <a:ext cx="4376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Não fechar a conexão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34176" y="3959352"/>
            <a:ext cx="491627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Mesmo num menu que roda várias vezes, use sempre try-with-resources.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40080" y="4823460"/>
            <a:ext cx="5318608" cy="130302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DB3CC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41248" y="5024628"/>
            <a:ext cx="438912" cy="438912"/>
          </a:xfrm>
          <a:prstGeom prst="ellipse">
            <a:avLst/>
          </a:prstGeom>
          <a:solidFill>
            <a:srgbClr val="00346E"/>
          </a:solidFill>
          <a:ln/>
        </p:spPr>
      </p:sp>
      <p:pic>
        <p:nvPicPr>
          <p:cNvPr id="22" name="Image 3" descr="/sessions/ecstatic-focused-allen/mnt/outputs/assets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307" y="5081687"/>
            <a:ext cx="324795" cy="32479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17320" y="4988052"/>
            <a:ext cx="4376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Ignorar o retorno do executeUpdate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841248" y="5536692"/>
            <a:ext cx="491627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linhas == 0, o produto não existia — avisar evita confusão.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6233008" y="4823460"/>
            <a:ext cx="5318608" cy="130302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DB3CC">
                <a:alpha val="2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434176" y="5024628"/>
            <a:ext cx="438912" cy="438912"/>
          </a:xfrm>
          <a:prstGeom prst="ellipse">
            <a:avLst/>
          </a:prstGeom>
          <a:solidFill>
            <a:srgbClr val="00346E"/>
          </a:solidFill>
          <a:ln/>
        </p:spPr>
      </p:sp>
      <p:pic>
        <p:nvPicPr>
          <p:cNvPr id="27" name="Image 4" descr="/sessions/ecstatic-focused-allen/mnt/outputs/assets/icons/keyboar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1234" y="5081687"/>
            <a:ext cx="324795" cy="32479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010248" y="4988052"/>
            <a:ext cx="4376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Não validar o que a Entrada devolve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6434176" y="5536692"/>
            <a:ext cx="491627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 preço negativo ou ID inexistente ainda podem passar — vale checar antes de agir.</a:t>
            </a:r>
            <a:endParaRPr lang="en-US" sz="1150" dirty="0"/>
          </a:p>
        </p:txBody>
      </p:sp>
      <p:pic>
        <p:nvPicPr>
          <p:cNvPr id="30" name="Image 5" descr="/sessions/ecstatic-focused-allen/mnt/outputs/assets/logo_mark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24767" y="6400800"/>
            <a:ext cx="256032" cy="25603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Portella</a:t>
            </a:r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·  Programação Avançada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11185855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AB4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50292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AB40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502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PARE E PENSE · INTERAÇÃO 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271455" y="457200"/>
            <a:ext cx="1051560" cy="1051560"/>
          </a:xfrm>
          <a:prstGeom prst="ellipse">
            <a:avLst/>
          </a:prstGeom>
          <a:solidFill>
            <a:srgbClr val="00346E"/>
          </a:solidFill>
          <a:ln/>
        </p:spPr>
      </p:sp>
      <p:pic>
        <p:nvPicPr>
          <p:cNvPr id="6" name="Image 0" descr="/sessions/ecstatic-focused-allen/mnt/outputs/assets/icons/bug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8158" y="593903"/>
            <a:ext cx="778154" cy="7781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1143000"/>
            <a:ext cx="107286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700" b="1" i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"O que aconteceria se um produto tivesse</a:t>
            </a:r>
            <a:endParaRPr lang="en-US" sz="2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700" b="1" i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 preço negativo digitado por engano?"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822960" y="2880360"/>
            <a:ext cx="1036289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623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banco aceitaria um preço negativo, se a coluna for apenas NUMERIC?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623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Faria sentido validar o valor logo depois do Entrada.leiaDouble, antes de montar o SQL?</a:t>
            </a:r>
            <a:endParaRPr lang="en-US" sz="1600" dirty="0"/>
          </a:p>
        </p:txBody>
      </p:sp>
      <p:pic>
        <p:nvPicPr>
          <p:cNvPr id="9" name="Image 1" descr="/sessions/ecstatic-focused-allen/mnt/outputs/assets/logo_mar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4767" y="640080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Portella</a:t>
            </a:r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·  Programação Avançada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185855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034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cstatic-focused-allen/mnt/outputs/assets/imag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118872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4" name="Text 1"/>
          <p:cNvSpPr/>
          <p:nvPr/>
        </p:nvSpPr>
        <p:spPr>
          <a:xfrm>
            <a:off x="822960" y="1188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BLOCO 8 DE 8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77240" y="265176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Mão na massa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804672" y="39776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Projeto guiado e desafio da semana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9174175" y="2377440"/>
            <a:ext cx="1554480" cy="155448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8" name="Image 1" descr="/sessions/ecstatic-focused-allen/mnt/outputs/assets/icons/rocket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6258" y="2579522"/>
            <a:ext cx="1150315" cy="1150315"/>
          </a:xfrm>
          <a:prstGeom prst="rect">
            <a:avLst/>
          </a:prstGeom>
        </p:spPr>
      </p:pic>
      <p:pic>
        <p:nvPicPr>
          <p:cNvPr id="9" name="Image 2" descr="/sessions/ecstatic-focused-allen/mnt/outputs/assets/logo_mar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4767" y="6400800"/>
            <a:ext cx="256032" cy="256032"/>
          </a:xfrm>
          <a:prstGeom prst="rect">
            <a:avLst/>
          </a:prstGeom>
        </p:spPr>
      </p:pic>
      <p:pic>
        <p:nvPicPr>
          <p:cNvPr id="10" name="Image 3" descr="/sessions/ecstatic-focused-allen/mnt/outputs/assets/logo_mar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24767" y="6400800"/>
            <a:ext cx="256032" cy="2560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Portella</a:t>
            </a:r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·  Programação Avançada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11185855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51A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BLOCO 8 · MÃO NA MASSA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Projeto guiado: Sistema de Cadastro de Produtos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464994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DB3CC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2537" y="2011680"/>
            <a:ext cx="457200" cy="457200"/>
          </a:xfrm>
          <a:prstGeom prst="ellipse">
            <a:avLst/>
          </a:prstGeom>
          <a:solidFill>
            <a:srgbClr val="0051A1"/>
          </a:solidFill>
          <a:ln/>
        </p:spPr>
      </p:sp>
      <p:pic>
        <p:nvPicPr>
          <p:cNvPr id="6" name="Image 0" descr="/sessions/ecstatic-focused-allen/mnt/outputs/assets/icons/listal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1973" y="207111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60320"/>
            <a:ext cx="22821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 Menu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58368" y="2880360"/>
            <a:ext cx="22455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 Entrada.leiaInt, repetindo até "Sair".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013634" y="2738628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8B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3425114" y="1828800"/>
            <a:ext cx="2464994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DB3CC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29011" y="2011680"/>
            <a:ext cx="457200" cy="457200"/>
          </a:xfrm>
          <a:prstGeom prst="ellipse">
            <a:avLst/>
          </a:prstGeom>
          <a:solidFill>
            <a:srgbClr val="0051A1"/>
          </a:solidFill>
          <a:ln/>
        </p:spPr>
      </p:sp>
      <p:pic>
        <p:nvPicPr>
          <p:cNvPr id="12" name="Image 1" descr="/sessions/ecstatic-focused-allen/mnt/outputs/assets/icons/sav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8447" y="2071116"/>
            <a:ext cx="338328" cy="3383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16554" y="2560320"/>
            <a:ext cx="22821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 Cadastrar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534842" y="2880360"/>
            <a:ext cx="22455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Entrada + PreparedStatement (INSERT).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890108" y="2738628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8B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2"/>
          <p:cNvSpPr/>
          <p:nvPr/>
        </p:nvSpPr>
        <p:spPr>
          <a:xfrm>
            <a:off x="6301588" y="1828800"/>
            <a:ext cx="2464994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DB3CC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05485" y="2011680"/>
            <a:ext cx="457200" cy="457200"/>
          </a:xfrm>
          <a:prstGeom prst="ellipse">
            <a:avLst/>
          </a:prstGeom>
          <a:solidFill>
            <a:srgbClr val="0051A1"/>
          </a:solidFill>
          <a:ln/>
        </p:spPr>
      </p:sp>
      <p:pic>
        <p:nvPicPr>
          <p:cNvPr id="18" name="Image 2" descr="/sessions/ecstatic-focused-allen/mnt/outputs/assets/icons/filte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4921" y="2071116"/>
            <a:ext cx="338328" cy="33832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93028" y="2560320"/>
            <a:ext cx="22821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 Listar/Buscar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11316" y="2880360"/>
            <a:ext cx="22455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executeQuery + while(rs.next()), com ILIKE.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766581" y="2738628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8B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17"/>
          <p:cNvSpPr/>
          <p:nvPr/>
        </p:nvSpPr>
        <p:spPr>
          <a:xfrm>
            <a:off x="9178061" y="1828800"/>
            <a:ext cx="2464994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DB3CC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181958" y="2011680"/>
            <a:ext cx="457200" cy="457200"/>
          </a:xfrm>
          <a:prstGeom prst="ellipse">
            <a:avLst/>
          </a:prstGeom>
          <a:solidFill>
            <a:srgbClr val="0051A1"/>
          </a:solidFill>
          <a:ln/>
        </p:spPr>
      </p:sp>
      <p:pic>
        <p:nvPicPr>
          <p:cNvPr id="24" name="Image 3" descr="/sessions/ecstatic-focused-allen/mnt/outputs/assets/icons/trash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394" y="2071116"/>
            <a:ext cx="338328" cy="33832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69501" y="2560320"/>
            <a:ext cx="22821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 Atualizar/Remover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9287789" y="2880360"/>
            <a:ext cx="22455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UPDATE e DELETE, sempre com confirmação.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640080" y="4480560"/>
            <a:ext cx="10911535" cy="1600200"/>
          </a:xfrm>
          <a:prstGeom prst="roundRect">
            <a:avLst>
              <a:gd name="adj" fmla="val 5143"/>
            </a:avLst>
          </a:prstGeom>
          <a:solidFill>
            <a:srgbClr val="F3F7FC"/>
          </a:solidFill>
          <a:ln/>
          <a:effectLst>
            <a:outerShdw sx="100000" sy="100000" kx="0" ky="0" algn="bl" rotWithShape="0" blurRad="76200" dist="25400" dir="5400000">
              <a:srgbClr val="9DB3CC">
                <a:alpha val="25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914400" y="50749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Esse é exatamente o MenuProdutos.java da pasta aula3 — o programa que construímos, peça por peça, hoje.</a:t>
            </a:r>
            <a:endParaRPr lang="en-US" sz="1300" dirty="0"/>
          </a:p>
        </p:txBody>
      </p:sp>
      <p:pic>
        <p:nvPicPr>
          <p:cNvPr id="29" name="Image 4" descr="/sessions/ecstatic-focused-allen/mnt/outputs/assets/logo_mark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24767" y="6400800"/>
            <a:ext cx="256032" cy="25603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Portella</a:t>
            </a:r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·  Programação Avançada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185855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cstatic-focused-allen/mnt/outputs/assets/imag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" y="-18288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51A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BLOCO 8 · MÃO NA MASSA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6583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Desafio da semana: Sistema de Cadastro de Clientes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155448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3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tabela cliente (id, nome, email) já existe no banco loja_avancada, criada na aula 2. Construam um programa com menu para gerenciá-la: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822960" y="2395728"/>
            <a:ext cx="329184" cy="329184"/>
          </a:xfrm>
          <a:prstGeom prst="ellipse">
            <a:avLst/>
          </a:prstGeom>
          <a:solidFill>
            <a:srgbClr val="0051A1"/>
          </a:solidFill>
          <a:ln/>
        </p:spPr>
      </p:sp>
      <p:pic>
        <p:nvPicPr>
          <p:cNvPr id="7" name="Image 1" descr="/sessions/ecstatic-focused-allen/mnt/outputs/assets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754" y="2438522"/>
            <a:ext cx="243596" cy="2435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98448" y="224028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Menu com Entrada.leiaInt (Cadastrar, Listar, Buscar, Atualizar, Remover, Sair)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822960" y="3035808"/>
            <a:ext cx="329184" cy="329184"/>
          </a:xfrm>
          <a:prstGeom prst="ellipse">
            <a:avLst/>
          </a:prstGeom>
          <a:solidFill>
            <a:srgbClr val="0051A1"/>
          </a:solidFill>
          <a:ln/>
        </p:spPr>
      </p:sp>
      <p:pic>
        <p:nvPicPr>
          <p:cNvPr id="10" name="Image 2" descr="/sessions/ecstatic-focused-allen/mnt/outputs/assets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754" y="3078602"/>
            <a:ext cx="243596" cy="2435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98448" y="288036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cadastrar(): nome e email via Entrada, validados antes do PreparedStatement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822960" y="3675888"/>
            <a:ext cx="329184" cy="329184"/>
          </a:xfrm>
          <a:prstGeom prst="ellipse">
            <a:avLst/>
          </a:prstGeom>
          <a:solidFill>
            <a:srgbClr val="0051A1"/>
          </a:solidFill>
          <a:ln/>
        </p:spPr>
      </p:sp>
      <p:pic>
        <p:nvPicPr>
          <p:cNvPr id="13" name="Image 3" descr="/sessions/ecstatic-focused-allen/mnt/outputs/assets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754" y="3718682"/>
            <a:ext cx="243596" cy="24359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98448" y="352044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listar(): todos os clientes com SELECT + while(rs.next())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6309360" y="2395728"/>
            <a:ext cx="329184" cy="329184"/>
          </a:xfrm>
          <a:prstGeom prst="ellipse">
            <a:avLst/>
          </a:prstGeom>
          <a:solidFill>
            <a:srgbClr val="0051A1"/>
          </a:solidFill>
          <a:ln/>
        </p:spPr>
      </p:sp>
      <p:pic>
        <p:nvPicPr>
          <p:cNvPr id="16" name="Image 4" descr="/sessions/ecstatic-focused-allen/mnt/outputs/assets/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2154" y="2438522"/>
            <a:ext cx="243596" cy="24359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784848" y="224028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buscarPorNome(): Entrada.leiaString + WHERE nome ILIKE ?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6309360" y="3035808"/>
            <a:ext cx="329184" cy="329184"/>
          </a:xfrm>
          <a:prstGeom prst="ellipse">
            <a:avLst/>
          </a:prstGeom>
          <a:solidFill>
            <a:srgbClr val="0051A1"/>
          </a:solidFill>
          <a:ln/>
        </p:spPr>
      </p:sp>
      <p:pic>
        <p:nvPicPr>
          <p:cNvPr id="19" name="Image 5" descr="/sessions/ecstatic-focused-allen/mnt/outputs/assets/icons/chec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2154" y="3078602"/>
            <a:ext cx="243596" cy="24359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784848" y="288036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atualizar(): novo email de um cliente, pelo id — também validado</a:t>
            </a:r>
            <a:endParaRPr lang="en-US" sz="1400" dirty="0"/>
          </a:p>
        </p:txBody>
      </p:sp>
      <p:sp>
        <p:nvSpPr>
          <p:cNvPr id="21" name="Shape 13"/>
          <p:cNvSpPr/>
          <p:nvPr/>
        </p:nvSpPr>
        <p:spPr>
          <a:xfrm>
            <a:off x="6309360" y="3675888"/>
            <a:ext cx="329184" cy="329184"/>
          </a:xfrm>
          <a:prstGeom prst="ellipse">
            <a:avLst/>
          </a:prstGeom>
          <a:solidFill>
            <a:srgbClr val="0051A1"/>
          </a:solidFill>
          <a:ln/>
        </p:spPr>
      </p:sp>
      <p:pic>
        <p:nvPicPr>
          <p:cNvPr id="22" name="Image 6" descr="/sessions/ecstatic-focused-allen/mnt/outputs/assets/icons/check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2154" y="3718682"/>
            <a:ext cx="243596" cy="243596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784848" y="352044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remover(): confirma com Entrada.leiaBoolean antes do DELETE</a:t>
            </a:r>
            <a:endParaRPr lang="en-US" sz="1400" dirty="0"/>
          </a:p>
        </p:txBody>
      </p:sp>
      <p:sp>
        <p:nvSpPr>
          <p:cNvPr id="24" name="Shape 15"/>
          <p:cNvSpPr/>
          <p:nvPr/>
        </p:nvSpPr>
        <p:spPr>
          <a:xfrm>
            <a:off x="640080" y="4343400"/>
            <a:ext cx="10911535" cy="1965960"/>
          </a:xfrm>
          <a:prstGeom prst="roundRect">
            <a:avLst>
              <a:gd name="adj" fmla="val 4186"/>
            </a:avLst>
          </a:prstGeom>
          <a:solidFill>
            <a:srgbClr val="FFF6E8"/>
          </a:solidFill>
          <a:ln/>
          <a:effectLst>
            <a:outerShdw sx="100000" sy="100000" kx="0" ky="0" algn="bl" rotWithShape="0" blurRad="76200" dist="25400" dir="5400000">
              <a:srgbClr val="9DB3CC">
                <a:alpha val="25000"/>
              </a:srgbClr>
            </a:outerShdw>
          </a:effectLst>
        </p:spPr>
      </p:sp>
      <p:sp>
        <p:nvSpPr>
          <p:cNvPr id="25" name="Text 16"/>
          <p:cNvSpPr/>
          <p:nvPr/>
        </p:nvSpPr>
        <p:spPr>
          <a:xfrm>
            <a:off x="914400" y="452628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C97A00"/>
                </a:solidFill>
              </a:rPr>
              <a:t>Elaborado, mas nada novo: </a:t>
            </a:r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6233D"/>
                </a:solidFill>
              </a:rPr>
              <a:t>cada peça (menu, INSERT, SELECT com busca, UPDATE, DELETE com confirmação) já foi praticada hoje com a tabela produto — nos arquivos da pasta aula3. Não precisam criar tabela nova: é só montar o programa Java para a tabela cliente que já existe.</a:t>
            </a:r>
            <a:endParaRPr lang="en-US" sz="1300" dirty="0"/>
          </a:p>
        </p:txBody>
      </p:sp>
      <p:sp>
        <p:nvSpPr>
          <p:cNvPr id="26" name="Text 17"/>
          <p:cNvSpPr/>
          <p:nvPr/>
        </p:nvSpPr>
        <p:spPr>
          <a:xfrm>
            <a:off x="914400" y="525780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C97A00"/>
                </a:solidFill>
              </a:rPr>
              <a:t>Novidade — validação: 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6233D"/>
                </a:solidFill>
              </a:rPr>
              <a:t>adicionamos a biblioteca Apache Commons Validator ao pom.xml. Antes de gravar, confiram o e-mail com 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0051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EmailValidator.getInstance().isValid(email)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6233D"/>
                </a:solidFill>
              </a:rPr>
              <a:t> e o nome com 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0051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GenericValidator.isBlankOrNull(nome)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6233D"/>
                </a:solidFill>
              </a:rPr>
              <a:t> — exemplo pronto em ValidacaoExemplo.java, na pasta aula3. Extra opcional: SELECT COUNT(*) para mostrar quantos clientes existem.</a:t>
            </a:r>
            <a:endParaRPr lang="en-US" sz="1300" dirty="0"/>
          </a:p>
        </p:txBody>
      </p:sp>
      <p:pic>
        <p:nvPicPr>
          <p:cNvPr id="27" name="Image 7" descr="/sessions/ecstatic-focused-allen/mnt/outputs/assets/logo_mark_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624767" y="6400800"/>
            <a:ext cx="256032" cy="256032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Portella</a:t>
            </a:r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·  Programação Avançada</a:t>
            </a:r>
            <a:endParaRPr lang="en-US" sz="900" dirty="0"/>
          </a:p>
        </p:txBody>
      </p:sp>
      <p:sp>
        <p:nvSpPr>
          <p:cNvPr id="29" name="Text 19"/>
          <p:cNvSpPr/>
          <p:nvPr/>
        </p:nvSpPr>
        <p:spPr>
          <a:xfrm>
            <a:off x="11185855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cstatic-focused-allen/mnt/outputs/assets/imag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" y="-18288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51A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BLOCO 8 · MÃO NA MASSA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6583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Critérios de avaliação e dicas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2522144" cy="2834640"/>
          </a:xfrm>
          <a:prstGeom prst="roundRect">
            <a:avLst>
              <a:gd name="adj" fmla="val 3263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DB3CC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41248" y="1892808"/>
            <a:ext cx="457200" cy="457200"/>
          </a:xfrm>
          <a:prstGeom prst="ellipse">
            <a:avLst/>
          </a:prstGeom>
          <a:solidFill>
            <a:srgbClr val="00346E"/>
          </a:solidFill>
          <a:ln/>
        </p:spPr>
      </p:sp>
      <p:pic>
        <p:nvPicPr>
          <p:cNvPr id="7" name="Image 1" descr="/sessions/ecstatic-focused-allen/mnt/outputs/assets/icons/listal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" y="1952244"/>
            <a:ext cx="338328" cy="3383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35608" y="1856232"/>
            <a:ext cx="1562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Menu funcional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841248" y="2423160"/>
            <a:ext cx="21198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programa volta ao menu depois de cada ação, até o usuário escolher Sair.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436544" y="1691640"/>
            <a:ext cx="2522144" cy="2834640"/>
          </a:xfrm>
          <a:prstGeom prst="roundRect">
            <a:avLst>
              <a:gd name="adj" fmla="val 3263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DB3CC">
                <a:alpha val="2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637712" y="1892808"/>
            <a:ext cx="457200" cy="457200"/>
          </a:xfrm>
          <a:prstGeom prst="ellipse">
            <a:avLst/>
          </a:prstGeom>
          <a:solidFill>
            <a:srgbClr val="00346E"/>
          </a:solidFill>
          <a:ln/>
        </p:spPr>
      </p:sp>
      <p:pic>
        <p:nvPicPr>
          <p:cNvPr id="12" name="Image 2" descr="/sessions/ecstatic-focused-allen/mnt/outputs/assets/icons/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7148" y="1952244"/>
            <a:ext cx="338328" cy="3383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232072" y="1856232"/>
            <a:ext cx="1562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Parâmetros e validação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3637712" y="2423160"/>
            <a:ext cx="21198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Comandos usam ? em vez de concatenar; e-mail e nome são validados antes de gravar.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233008" y="1691640"/>
            <a:ext cx="2522144" cy="2834640"/>
          </a:xfrm>
          <a:prstGeom prst="roundRect">
            <a:avLst>
              <a:gd name="adj" fmla="val 3263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DB3CC">
                <a:alpha val="2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434176" y="1892808"/>
            <a:ext cx="457200" cy="457200"/>
          </a:xfrm>
          <a:prstGeom prst="ellipse">
            <a:avLst/>
          </a:prstGeom>
          <a:solidFill>
            <a:srgbClr val="00346E"/>
          </a:solidFill>
          <a:ln/>
        </p:spPr>
      </p:sp>
      <p:pic>
        <p:nvPicPr>
          <p:cNvPr id="17" name="Image 3" descr="/sessions/ecstatic-focused-allen/mnt/outputs/assets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3612" y="1952244"/>
            <a:ext cx="338328" cy="33832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28536" y="1856232"/>
            <a:ext cx="1562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Confirmação e feedback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6434176" y="2423160"/>
            <a:ext cx="21198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remover() confirma antes de agir; todo método avisa o resultado ao usuário.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9029471" y="1691640"/>
            <a:ext cx="2522144" cy="2834640"/>
          </a:xfrm>
          <a:prstGeom prst="roundRect">
            <a:avLst>
              <a:gd name="adj" fmla="val 3263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DB3CC">
                <a:alpha val="2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9230639" y="1892808"/>
            <a:ext cx="457200" cy="457200"/>
          </a:xfrm>
          <a:prstGeom prst="ellipse">
            <a:avLst/>
          </a:prstGeom>
          <a:solidFill>
            <a:srgbClr val="00346E"/>
          </a:solidFill>
          <a:ln/>
        </p:spPr>
      </p:sp>
      <p:pic>
        <p:nvPicPr>
          <p:cNvPr id="22" name="Image 4" descr="/sessions/ecstatic-focused-allen/mnt/outputs/assets/icons/bug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0075" y="1952244"/>
            <a:ext cx="338328" cy="33832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824999" y="1856232"/>
            <a:ext cx="1562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3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 travar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9230639" y="2423160"/>
            <a:ext cx="21198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Erros de banco são capturados com try/catch, sem derrubar o programa.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640080" y="4709160"/>
            <a:ext cx="10911535" cy="1417320"/>
          </a:xfrm>
          <a:prstGeom prst="roundRect">
            <a:avLst>
              <a:gd name="adj" fmla="val 5806"/>
            </a:avLst>
          </a:prstGeom>
          <a:solidFill>
            <a:srgbClr val="F3F7FC"/>
          </a:solidFill>
          <a:ln/>
          <a:effectLst>
            <a:outerShdw sx="100000" sy="100000" kx="0" ky="0" algn="bl" rotWithShape="0" blurRad="76200" dist="25400" dir="5400000">
              <a:srgbClr val="9DB3CC">
                <a:alpha val="25000"/>
              </a:srgbClr>
            </a:outerShdw>
          </a:effectLst>
        </p:spPr>
      </p:sp>
      <p:sp>
        <p:nvSpPr>
          <p:cNvPr id="26" name="Text 19"/>
          <p:cNvSpPr/>
          <p:nvPr/>
        </p:nvSpPr>
        <p:spPr>
          <a:xfrm>
            <a:off x="914400" y="4937760"/>
            <a:ext cx="10362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0346E"/>
                </a:solidFill>
              </a:rPr>
              <a:t>Dica final: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33D"/>
                </a:solidFill>
              </a:rPr>
              <a:t>testem cada opção do menu isoladamente antes de considerar o desafio pronto — é mais fácil achar um bug em um método por vez do que no programa inteiro de uma vez.</a:t>
            </a:r>
            <a:endParaRPr lang="en-US" sz="1300" dirty="0"/>
          </a:p>
        </p:txBody>
      </p:sp>
      <p:pic>
        <p:nvPicPr>
          <p:cNvPr id="27" name="Image 5" descr="/sessions/ecstatic-focused-allen/mnt/outputs/assets/logo_mark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24767" y="6400800"/>
            <a:ext cx="256032" cy="25603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Portella</a:t>
            </a:r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·  Programação Avançada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185855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034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cstatic-focused-allen/mnt/outputs/assets/imag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109728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4" name="Text 1"/>
          <p:cNvSpPr/>
          <p:nvPr/>
        </p:nvSpPr>
        <p:spPr>
          <a:xfrm>
            <a:off x="822960" y="10972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PRÓXIMA AULA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77240" y="1691640"/>
            <a:ext cx="9144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Interfaces gráficas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 Java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804672" y="30632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Hoje conectamos Java e PostgreSQL pelo console. Na próxima aula, vamos dar uma cara para esses programas: janelas, botões e campos com Swing.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04672" y="4069080"/>
            <a:ext cx="3362858" cy="1920240"/>
          </a:xfrm>
          <a:prstGeom prst="roundRect">
            <a:avLst>
              <a:gd name="adj" fmla="val 4286"/>
            </a:avLst>
          </a:prstGeom>
          <a:solidFill>
            <a:srgbClr val="0B2545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05840" y="4270248"/>
            <a:ext cx="457200" cy="457200"/>
          </a:xfrm>
          <a:prstGeom prst="ellipse">
            <a:avLst/>
          </a:prstGeom>
          <a:solidFill>
            <a:srgbClr val="FFAB40"/>
          </a:solidFill>
          <a:ln/>
        </p:spPr>
      </p:sp>
      <p:pic>
        <p:nvPicPr>
          <p:cNvPr id="9" name="Image 1" descr="/sessions/ecstatic-focused-allen/mnt/outputs/assets/icons/desktop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" y="4329684"/>
            <a:ext cx="338328" cy="3383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4233672"/>
            <a:ext cx="2402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JFrame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005840" y="4800600"/>
            <a:ext cx="296052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janela principal da aplicação gráfica.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441850" y="4069080"/>
            <a:ext cx="3362858" cy="1920240"/>
          </a:xfrm>
          <a:prstGeom prst="roundRect">
            <a:avLst>
              <a:gd name="adj" fmla="val 4286"/>
            </a:avLst>
          </a:prstGeom>
          <a:solidFill>
            <a:srgbClr val="0B2545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643018" y="4270248"/>
            <a:ext cx="457200" cy="457200"/>
          </a:xfrm>
          <a:prstGeom prst="ellipse">
            <a:avLst/>
          </a:prstGeom>
          <a:solidFill>
            <a:srgbClr val="FFAB40"/>
          </a:solidFill>
          <a:ln/>
        </p:spPr>
      </p:sp>
      <p:pic>
        <p:nvPicPr>
          <p:cNvPr id="14" name="Image 2" descr="/sessions/ecstatic-focused-allen/mnt/outputs/assets/icons/squar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2454" y="4329684"/>
            <a:ext cx="338328" cy="33832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37378" y="4233672"/>
            <a:ext cx="2402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Componentes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643018" y="4800600"/>
            <a:ext cx="296052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Botões, campos de texto, rótulos e listas.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8079029" y="4069080"/>
            <a:ext cx="3362858" cy="1920240"/>
          </a:xfrm>
          <a:prstGeom prst="roundRect">
            <a:avLst>
              <a:gd name="adj" fmla="val 4286"/>
            </a:avLst>
          </a:prstGeom>
          <a:solidFill>
            <a:srgbClr val="0B2545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280197" y="4270248"/>
            <a:ext cx="457200" cy="457200"/>
          </a:xfrm>
          <a:prstGeom prst="ellipse">
            <a:avLst/>
          </a:prstGeom>
          <a:solidFill>
            <a:srgbClr val="FFAB40"/>
          </a:solidFill>
          <a:ln/>
        </p:spPr>
      </p:sp>
      <p:pic>
        <p:nvPicPr>
          <p:cNvPr id="19" name="Image 3" descr="/sessions/ecstatic-focused-allen/mnt/outputs/assets/icons/clic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633" y="4329684"/>
            <a:ext cx="338328" cy="33832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874557" y="4233672"/>
            <a:ext cx="2402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Eventos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8280197" y="4800600"/>
            <a:ext cx="296052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Reagindo a cliques e outras ações do usuário.</a:t>
            </a:r>
            <a:endParaRPr lang="en-US" sz="1100" dirty="0"/>
          </a:p>
        </p:txBody>
      </p:sp>
      <p:pic>
        <p:nvPicPr>
          <p:cNvPr id="22" name="Image 4" descr="/sessions/ecstatic-focused-allen/mnt/outputs/assets/logo_mar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24767" y="6400800"/>
            <a:ext cx="256032" cy="256032"/>
          </a:xfrm>
          <a:prstGeom prst="rect">
            <a:avLst/>
          </a:prstGeom>
        </p:spPr>
      </p:pic>
      <p:pic>
        <p:nvPicPr>
          <p:cNvPr id="23" name="Image 5" descr="/sessions/ecstatic-focused-allen/mnt/outputs/assets/logo_mar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24767" y="6400800"/>
            <a:ext cx="256032" cy="25603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Portella</a:t>
            </a:r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·  Programação Avançada</a:t>
            </a:r>
            <a:endParaRPr lang="en-US" sz="900" dirty="0"/>
          </a:p>
        </p:txBody>
      </p:sp>
      <p:sp>
        <p:nvSpPr>
          <p:cNvPr id="25" name="Text 17"/>
          <p:cNvSpPr/>
          <p:nvPr/>
        </p:nvSpPr>
        <p:spPr>
          <a:xfrm>
            <a:off x="11185855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034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cstatic-focused-allen/mnt/outputs/assets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237744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Obrigada!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804672" y="34290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Dúvidas? É hora de perguntar — ou de começar o Sistema de Cadastro de Clientes.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9357055" y="2331720"/>
            <a:ext cx="1371600" cy="137160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6" name="Image 1" descr="/sessions/ecstatic-focused-allen/mnt/outputs/assets/icons/comments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5363" y="2510028"/>
            <a:ext cx="1014984" cy="1014984"/>
          </a:xfrm>
          <a:prstGeom prst="rect">
            <a:avLst/>
          </a:prstGeom>
        </p:spPr>
      </p:pic>
      <p:pic>
        <p:nvPicPr>
          <p:cNvPr id="7" name="Image 2" descr="/sessions/ecstatic-focused-allen/mnt/outputs/assets/image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897880"/>
            <a:ext cx="3291840" cy="74980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448495" y="62910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Portella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034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cstatic-focused-allen/mnt/outputs/assets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27432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OBRIGADO!</a:t>
            </a:r>
            <a:endParaRPr lang="en-US" sz="5600" dirty="0"/>
          </a:p>
        </p:txBody>
      </p:sp>
      <p:pic>
        <p:nvPicPr>
          <p:cNvPr id="4" name="Image 1" descr="/sessions/ecstatic-focused-allen/mnt/outputs/assets/image6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069080"/>
            <a:ext cx="2194560" cy="476402"/>
          </a:xfrm>
          <a:prstGeom prst="rect">
            <a:avLst/>
          </a:prstGeom>
        </p:spPr>
      </p:pic>
      <p:pic>
        <p:nvPicPr>
          <p:cNvPr id="5" name="Image 2" descr="/sessions/ecstatic-focused-allen/mnt/outputs/assets/qr_linked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5575" y="1965960"/>
            <a:ext cx="1554480" cy="155448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8396935" y="3566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linkedin.com/rsportella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+ PostgreSQL na prática: dados reais com Entrada</dc:title>
  <dc:subject>PptxGenJS Presentation</dc:subject>
  <dc:creator>Programação Avançada</dc:creator>
  <cp:lastModifiedBy>Programação Avançada</cp:lastModifiedBy>
  <cp:revision>1</cp:revision>
  <dcterms:created xsi:type="dcterms:W3CDTF">2026-08-12T17:17:15Z</dcterms:created>
  <dcterms:modified xsi:type="dcterms:W3CDTF">2026-08-12T17:17:15Z</dcterms:modified>
</cp:coreProperties>
</file>